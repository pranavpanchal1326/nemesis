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2298" y="-16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24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one-sentence pitch: a citizen's photo becomes a verified, deduplicated, severity-scored work order in seconds — and NEMESIS proves it got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re-explain that potholes exist. Spend the time on the gap: every existing tool stops at 'routed to department'.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dedup question here: two-stage PostGIS + pgvector, 0.85 is a starting threshold not a tuned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risks with a one-line mitigation each reads as more credible than a risk-free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Citizen resubmission rate is the trust-collapse mechanism inverted into a success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choice here is open-source and self-hostable — that is what makes the zero-API-cost claim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450" y="619118"/>
            <a:ext cx="14087412" cy="90391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 l="-198" r="-198"/>
          <a:stretch/>
        </p:blipFill>
        <p:spPr>
          <a:xfrm>
            <a:off x="2428853" y="876235"/>
            <a:ext cx="4267186" cy="13048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 t="-83" b="-83"/>
          <a:stretch/>
        </p:blipFill>
        <p:spPr>
          <a:xfrm>
            <a:off x="13039722" y="876235"/>
            <a:ext cx="2809874" cy="145731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100677" y="2857494"/>
            <a:ext cx="12077026" cy="3000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0837"/>
              </a:lnSpc>
              <a:buNone/>
            </a:pPr>
            <a:r>
              <a:rPr lang="en-US" sz="7200" b="1" kern="0" spc="38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INTERNATIONAL INNOVATION CHALLENGE 3.0</a:t>
            </a:r>
            <a:endParaRPr lang="en-US" sz="72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683" y="5943505"/>
            <a:ext cx="323824" cy="361933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990985" y="5905464"/>
            <a:ext cx="9938895" cy="4309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3680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Theme — Smart Cities &amp; Civic Infrastructure Accountability</a:t>
            </a:r>
            <a:endParaRPr lang="en-US" sz="2475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6683" y="6781563"/>
            <a:ext cx="257117" cy="361933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924277" y="6743522"/>
            <a:ext cx="10998846" cy="4309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3680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Title — NEMESIS: AI Civic Operations Agent that proves the fix</a:t>
            </a:r>
            <a:endParaRPr lang="en-US" sz="2475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683" y="7619620"/>
            <a:ext cx="428573" cy="361933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095733" y="7581580"/>
            <a:ext cx="5025004" cy="4309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3680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 — Team NEMESIS</a:t>
            </a:r>
            <a:endParaRPr lang="en-US" sz="2475" dirty="0"/>
          </a:p>
        </p:txBody>
      </p:sp>
      <p:sp>
        <p:nvSpPr>
          <p:cNvPr id="13" name="Text 4"/>
          <p:cNvSpPr/>
          <p:nvPr/>
        </p:nvSpPr>
        <p:spPr>
          <a:xfrm>
            <a:off x="17554515" y="9620240"/>
            <a:ext cx="265794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91" r="-91"/>
          <a:stretch/>
        </p:blipFill>
        <p:spPr>
          <a:xfrm>
            <a:off x="14049372" y="209497"/>
            <a:ext cx="3390883" cy="17525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6724" y="780996"/>
            <a:ext cx="14144556" cy="7239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4760"/>
              </a:lnSpc>
              <a:buNone/>
            </a:pPr>
            <a:r>
              <a:rPr lang="en-US" sz="540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IDEA TITLE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66724" y="1990701"/>
            <a:ext cx="16573463" cy="2853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866724" y="2362145"/>
            <a:ext cx="13048257" cy="861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39"/>
              </a:lnSpc>
              <a:buNone/>
            </a:pPr>
            <a:r>
              <a:rPr lang="en-US" sz="2700" b="1" dirty="0">
                <a:solidFill>
                  <a:srgbClr val="FBE69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NEMESIS — Networked Enforcement &amp; Municipal Evidence System for Infrastructure &amp; Service accountability</a:t>
            </a:r>
            <a:endParaRPr lang="en-US" sz="2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4" y="3371795"/>
            <a:ext cx="304736" cy="3714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0958" y="3314665"/>
            <a:ext cx="17183036" cy="48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2325" dirty="0"/>
          </a:p>
        </p:txBody>
      </p:sp>
      <p:sp>
        <p:nvSpPr>
          <p:cNvPr id="9" name="Text 4"/>
          <p:cNvSpPr/>
          <p:nvPr/>
        </p:nvSpPr>
        <p:spPr>
          <a:xfrm>
            <a:off x="1380958" y="3815245"/>
            <a:ext cx="16089570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citizen's photo, voice note or text becomes a verified, deduplicated, severity-scored, department-routed work order in seconds — and NEMESIS then proves it was actually resolved.</a:t>
            </a:r>
            <a:endParaRPr lang="en-US" sz="187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4" y="4743718"/>
            <a:ext cx="304736" cy="3714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80958" y="4686588"/>
            <a:ext cx="17183036" cy="48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Detailed explanation of the proposed solution</a:t>
            </a:r>
            <a:endParaRPr lang="en-US" sz="2325" dirty="0"/>
          </a:p>
        </p:txBody>
      </p:sp>
      <p:sp>
        <p:nvSpPr>
          <p:cNvPr id="12" name="Text 6"/>
          <p:cNvSpPr/>
          <p:nvPr/>
        </p:nvSpPr>
        <p:spPr>
          <a:xfrm>
            <a:off x="1380958" y="5187168"/>
            <a:ext cx="17183036" cy="35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170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Multimodal intake — photo, Hindi/Marathi voice, or text — classified by CLIP zero-shot and transcribed by faster-whisper</a:t>
            </a:r>
            <a:endParaRPr lang="en-US" sz="1875" dirty="0"/>
          </a:p>
        </p:txBody>
      </p:sp>
      <p:sp>
        <p:nvSpPr>
          <p:cNvPr id="13" name="Text 7"/>
          <p:cNvSpPr/>
          <p:nvPr/>
        </p:nvSpPr>
        <p:spPr>
          <a:xfrm>
            <a:off x="1380958" y="5539455"/>
            <a:ext cx="16089570" cy="666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170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Two-stage dedup: PostGIS radius filter, then pgvector embedding similarity, merging duplicate reports into one confidence-weighted incident</a:t>
            </a:r>
            <a:endParaRPr lang="en-US" sz="1875" dirty="0"/>
          </a:p>
        </p:txBody>
      </p:sp>
      <p:sp>
        <p:nvSpPr>
          <p:cNvPr id="14" name="Text 8"/>
          <p:cNvSpPr/>
          <p:nvPr/>
        </p:nvSpPr>
        <p:spPr>
          <a:xfrm>
            <a:off x="1380958" y="6205988"/>
            <a:ext cx="17183036" cy="35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170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Transparent severity rubric — visual damage, location risk, cluster density, recurrence, vulnerability — every component score logged</a:t>
            </a:r>
            <a:endParaRPr lang="en-US" sz="1875" dirty="0"/>
          </a:p>
        </p:txBody>
      </p:sp>
      <p:sp>
        <p:nvSpPr>
          <p:cNvPr id="15" name="Text 9"/>
          <p:cNvSpPr/>
          <p:nvPr/>
        </p:nvSpPr>
        <p:spPr>
          <a:xfrm>
            <a:off x="1380958" y="6558275"/>
            <a:ext cx="17183036" cy="35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170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Closure loop: before/after SSIM photo verification plus citizen confirmation before anything can be marked resolved</a:t>
            </a:r>
            <a:endParaRPr lang="en-US" sz="187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4" y="7158237"/>
            <a:ext cx="304736" cy="3714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80958" y="7101108"/>
            <a:ext cx="17183036" cy="48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addresses the problem</a:t>
            </a:r>
            <a:endParaRPr lang="en-US" sz="2325" dirty="0"/>
          </a:p>
        </p:txBody>
      </p:sp>
      <p:sp>
        <p:nvSpPr>
          <p:cNvPr id="18" name="Text 11"/>
          <p:cNvSpPr/>
          <p:nvPr/>
        </p:nvSpPr>
        <p:spPr>
          <a:xfrm>
            <a:off x="1380958" y="7601687"/>
            <a:ext cx="16089570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existing civic tool stops at “routed to department.” Status is self-reported, unverified, and invisible — so citizens stop reporting. NEMESIS is designed backward from that trust-collapse mechanism, not forward from “log complaints with AI.”</a:t>
            </a:r>
            <a:endParaRPr lang="en-US" sz="187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4" y="8530160"/>
            <a:ext cx="304736" cy="3714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80958" y="8473030"/>
            <a:ext cx="17183036" cy="48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 of the solution</a:t>
            </a:r>
            <a:endParaRPr lang="en-US" sz="2325" dirty="0"/>
          </a:p>
        </p:txBody>
      </p:sp>
      <p:sp>
        <p:nvSpPr>
          <p:cNvPr id="21" name="Text 13"/>
          <p:cNvSpPr/>
          <p:nvPr/>
        </p:nvSpPr>
        <p:spPr>
          <a:xfrm>
            <a:off x="1380958" y="8973610"/>
            <a:ext cx="16089570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contractor-accountability layer built on fraud-graph technique — public work history, cost per fix, recurrence rate, entity resolution across vendor networks — on a hash-chained, append-only event log. No claim without a checkable evidence trail, and the whole stack runs offline on one laptop at zero API cost.</a:t>
            </a:r>
            <a:endParaRPr lang="en-US" sz="1875" dirty="0"/>
          </a:p>
        </p:txBody>
      </p:sp>
      <p:sp>
        <p:nvSpPr>
          <p:cNvPr id="22" name="Text 14"/>
          <p:cNvSpPr/>
          <p:nvPr/>
        </p:nvSpPr>
        <p:spPr>
          <a:xfrm>
            <a:off x="17554515" y="9620240"/>
            <a:ext cx="316810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91" r="-91"/>
          <a:stretch/>
        </p:blipFill>
        <p:spPr>
          <a:xfrm>
            <a:off x="14049372" y="209497"/>
            <a:ext cx="3390883" cy="17525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6724" y="780996"/>
            <a:ext cx="14144556" cy="7239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4760"/>
              </a:lnSpc>
              <a:buNone/>
            </a:pPr>
            <a:r>
              <a:rPr lang="en-US" sz="540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TECHNICAL APPROACH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66724" y="1990701"/>
            <a:ext cx="16573463" cy="2853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2"/>
          <p:cNvSpPr/>
          <p:nvPr/>
        </p:nvSpPr>
        <p:spPr>
          <a:xfrm>
            <a:off x="866724" y="2495492"/>
            <a:ext cx="8058112" cy="7553388"/>
          </a:xfrm>
          <a:prstGeom prst="roundRect">
            <a:avLst>
              <a:gd name="adj" fmla="val 2774"/>
            </a:avLst>
          </a:prstGeom>
          <a:solidFill>
            <a:srgbClr val="F2EEFA">
              <a:alpha val="3000"/>
            </a:srgbClr>
          </a:solidFill>
          <a:ln w="8695">
            <a:solidFill>
              <a:srgbClr val="D4AF37">
                <a:alpha val="5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50513" y="2808923"/>
            <a:ext cx="8090534" cy="572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Technologies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1218264" y="3591278"/>
            <a:ext cx="7575682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Next.js 15 + TypeScript, Tailwind + shadcn/ui, Leaflet + OpenStreetMap, React Three Fiber, Zustand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1218264" y="4405424"/>
            <a:ext cx="7575682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FastAPI (async), Pydantic v2, Celery + Redis, native WebSockets, JWT auth with role claims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1218264" y="5219570"/>
            <a:ext cx="7575682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PostgreSQL 16 with PostGIS and pgvector (HNSW), hash-chained append-only events table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218264" y="6033717"/>
            <a:ext cx="7575682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ML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CLIP zero-shot, faster-whisper, sentence-transformers MiniLM, Ollama (Qwen2.5 / Llama 3.1 8B), LangGraph, DBSCAN, SSIM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1218264" y="7169242"/>
            <a:ext cx="7575682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&amp; safety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exifread, imagehash, MediaPipe face-blur, SHA-256 hash chaining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1218264" y="7983388"/>
            <a:ext cx="7575682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Docker Compose, fully offline demo environment, pytest + GitHub Actions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9382008" y="2495492"/>
            <a:ext cx="8058180" cy="7553388"/>
          </a:xfrm>
          <a:prstGeom prst="roundRect">
            <a:avLst>
              <a:gd name="adj" fmla="val 2774"/>
            </a:avLst>
          </a:prstGeom>
          <a:solidFill>
            <a:srgbClr val="F2EEFA">
              <a:alpha val="3000"/>
            </a:srgbClr>
          </a:solidFill>
          <a:ln w="8695">
            <a:solidFill>
              <a:srgbClr val="D4AF37">
                <a:alpha val="5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365793" y="2808923"/>
            <a:ext cx="8090609" cy="572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Methodology</a:t>
            </a:r>
            <a:endParaRPr lang="en-US" sz="3150" dirty="0"/>
          </a:p>
        </p:txBody>
      </p:sp>
      <p:sp>
        <p:nvSpPr>
          <p:cNvPr id="16" name="Shape 12"/>
          <p:cNvSpPr/>
          <p:nvPr/>
        </p:nvSpPr>
        <p:spPr>
          <a:xfrm>
            <a:off x="9534376" y="3591278"/>
            <a:ext cx="7753444" cy="602407"/>
          </a:xfrm>
          <a:prstGeom prst="roundRect">
            <a:avLst>
              <a:gd name="adj" fmla="val 18974"/>
            </a:avLst>
          </a:prstGeom>
          <a:solidFill>
            <a:srgbClr val="D4AF37">
              <a:alpha val="6000"/>
            </a:srgbClr>
          </a:solidFill>
          <a:ln w="8695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617269" y="3714273"/>
            <a:ext cx="7587657" cy="394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Intake </a:t>
            </a:r>
            <a:r>
              <a:rPr lang="en-US" sz="1875" dirty="0">
                <a:highlight>
                  <a:srgbClr val="FCFAF3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— EXIF/GPS check, face blur, safety scan</a:t>
            </a:r>
            <a:endParaRPr lang="en-US" sz="1875" dirty="0"/>
          </a:p>
        </p:txBody>
      </p:sp>
      <p:sp>
        <p:nvSpPr>
          <p:cNvPr id="18" name="Shape 14"/>
          <p:cNvSpPr/>
          <p:nvPr/>
        </p:nvSpPr>
        <p:spPr>
          <a:xfrm>
            <a:off x="13401587" y="4193685"/>
            <a:ext cx="19021" cy="152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Shape 15"/>
          <p:cNvSpPr/>
          <p:nvPr/>
        </p:nvSpPr>
        <p:spPr>
          <a:xfrm>
            <a:off x="13345884" y="4346053"/>
            <a:ext cx="130426" cy="912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6"/>
          <p:cNvSpPr/>
          <p:nvPr/>
        </p:nvSpPr>
        <p:spPr>
          <a:xfrm>
            <a:off x="9534376" y="4494481"/>
            <a:ext cx="7753444" cy="602407"/>
          </a:xfrm>
          <a:prstGeom prst="roundRect">
            <a:avLst>
              <a:gd name="adj" fmla="val 18974"/>
            </a:avLst>
          </a:prstGeom>
          <a:solidFill>
            <a:srgbClr val="D4AF37">
              <a:alpha val="6000"/>
            </a:srgbClr>
          </a:solidFill>
          <a:ln w="8695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17269" y="4617476"/>
            <a:ext cx="7587657" cy="394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Classify &amp; score </a:t>
            </a:r>
            <a:r>
              <a:rPr lang="en-US" sz="1875" dirty="0">
                <a:highlight>
                  <a:srgbClr val="FCFAF3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— CLIP + severity rubric</a:t>
            </a:r>
            <a:endParaRPr lang="en-US" sz="1875" dirty="0"/>
          </a:p>
        </p:txBody>
      </p:sp>
      <p:sp>
        <p:nvSpPr>
          <p:cNvPr id="22" name="Shape 18"/>
          <p:cNvSpPr/>
          <p:nvPr/>
        </p:nvSpPr>
        <p:spPr>
          <a:xfrm>
            <a:off x="13401587" y="5096888"/>
            <a:ext cx="19021" cy="152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Shape 19"/>
          <p:cNvSpPr/>
          <p:nvPr/>
        </p:nvSpPr>
        <p:spPr>
          <a:xfrm>
            <a:off x="13345884" y="5249256"/>
            <a:ext cx="130426" cy="912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Shape 20"/>
          <p:cNvSpPr/>
          <p:nvPr/>
        </p:nvSpPr>
        <p:spPr>
          <a:xfrm>
            <a:off x="9534376" y="5397684"/>
            <a:ext cx="7753444" cy="602407"/>
          </a:xfrm>
          <a:prstGeom prst="roundRect">
            <a:avLst>
              <a:gd name="adj" fmla="val 18974"/>
            </a:avLst>
          </a:prstGeom>
          <a:solidFill>
            <a:srgbClr val="D4AF37">
              <a:alpha val="6000"/>
            </a:srgbClr>
          </a:solidFill>
          <a:ln w="8695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617269" y="5520679"/>
            <a:ext cx="7587657" cy="394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Deduplicate </a:t>
            </a:r>
            <a:r>
              <a:rPr lang="en-US" sz="1875" dirty="0">
                <a:highlight>
                  <a:srgbClr val="FCFAF3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— PostGIS geo filter → pgvector similarity</a:t>
            </a:r>
            <a:endParaRPr lang="en-US" sz="1875" dirty="0"/>
          </a:p>
        </p:txBody>
      </p:sp>
      <p:sp>
        <p:nvSpPr>
          <p:cNvPr id="26" name="Shape 22"/>
          <p:cNvSpPr/>
          <p:nvPr/>
        </p:nvSpPr>
        <p:spPr>
          <a:xfrm>
            <a:off x="13401587" y="6000091"/>
            <a:ext cx="19021" cy="152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Shape 23"/>
          <p:cNvSpPr/>
          <p:nvPr/>
        </p:nvSpPr>
        <p:spPr>
          <a:xfrm>
            <a:off x="13345884" y="6152459"/>
            <a:ext cx="130426" cy="912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Shape 24"/>
          <p:cNvSpPr/>
          <p:nvPr/>
        </p:nvSpPr>
        <p:spPr>
          <a:xfrm>
            <a:off x="9534376" y="6300887"/>
            <a:ext cx="7753444" cy="602407"/>
          </a:xfrm>
          <a:prstGeom prst="roundRect">
            <a:avLst>
              <a:gd name="adj" fmla="val 18974"/>
            </a:avLst>
          </a:prstGeom>
          <a:solidFill>
            <a:srgbClr val="D4AF37">
              <a:alpha val="6000"/>
            </a:srgbClr>
          </a:solidFill>
          <a:ln w="8695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617269" y="6423882"/>
            <a:ext cx="7587657" cy="394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Investigate </a:t>
            </a:r>
            <a:r>
              <a:rPr lang="en-US" sz="1875" dirty="0">
                <a:highlight>
                  <a:srgbClr val="FCFAF3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— LangGraph agent, ambiguous clusters only</a:t>
            </a:r>
            <a:endParaRPr lang="en-US" sz="1875" dirty="0"/>
          </a:p>
        </p:txBody>
      </p:sp>
      <p:sp>
        <p:nvSpPr>
          <p:cNvPr id="30" name="Shape 26"/>
          <p:cNvSpPr/>
          <p:nvPr/>
        </p:nvSpPr>
        <p:spPr>
          <a:xfrm>
            <a:off x="13401587" y="6903294"/>
            <a:ext cx="19021" cy="152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Shape 27"/>
          <p:cNvSpPr/>
          <p:nvPr/>
        </p:nvSpPr>
        <p:spPr>
          <a:xfrm>
            <a:off x="13345884" y="7055662"/>
            <a:ext cx="130426" cy="912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Shape 28"/>
          <p:cNvSpPr/>
          <p:nvPr/>
        </p:nvSpPr>
        <p:spPr>
          <a:xfrm>
            <a:off x="9534376" y="7204090"/>
            <a:ext cx="7753444" cy="602407"/>
          </a:xfrm>
          <a:prstGeom prst="roundRect">
            <a:avLst>
              <a:gd name="adj" fmla="val 18974"/>
            </a:avLst>
          </a:prstGeom>
          <a:solidFill>
            <a:srgbClr val="D4AF37">
              <a:alpha val="6000"/>
            </a:srgbClr>
          </a:solidFill>
          <a:ln w="8695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617269" y="7327085"/>
            <a:ext cx="7587657" cy="394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Route &amp; execute </a:t>
            </a:r>
            <a:r>
              <a:rPr lang="en-US" sz="1875" dirty="0">
                <a:highlight>
                  <a:srgbClr val="FCFAF3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— SLA work order, triage, assignment</a:t>
            </a:r>
            <a:endParaRPr lang="en-US" sz="1875" dirty="0"/>
          </a:p>
        </p:txBody>
      </p:sp>
      <p:sp>
        <p:nvSpPr>
          <p:cNvPr id="34" name="Shape 30"/>
          <p:cNvSpPr/>
          <p:nvPr/>
        </p:nvSpPr>
        <p:spPr>
          <a:xfrm>
            <a:off x="13401587" y="7806497"/>
            <a:ext cx="19021" cy="152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Shape 31"/>
          <p:cNvSpPr/>
          <p:nvPr/>
        </p:nvSpPr>
        <p:spPr>
          <a:xfrm>
            <a:off x="13345884" y="7958865"/>
            <a:ext cx="130426" cy="9129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Shape 32"/>
          <p:cNvSpPr/>
          <p:nvPr/>
        </p:nvSpPr>
        <p:spPr>
          <a:xfrm>
            <a:off x="9534376" y="8107293"/>
            <a:ext cx="7753444" cy="602407"/>
          </a:xfrm>
          <a:prstGeom prst="roundRect">
            <a:avLst>
              <a:gd name="adj" fmla="val 18974"/>
            </a:avLst>
          </a:prstGeom>
          <a:solidFill>
            <a:srgbClr val="D4AF37">
              <a:alpha val="16000"/>
            </a:srgbClr>
          </a:solidFill>
          <a:ln w="8695">
            <a:solidFill>
              <a:srgbClr val="D4AF3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17269" y="8230288"/>
            <a:ext cx="7587657" cy="394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Verify &amp; publish </a:t>
            </a:r>
            <a:r>
              <a:rPr lang="en-US" sz="1875" dirty="0">
                <a:highlight>
                  <a:srgbClr val="F8F2DF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— SSIM + citizen confirmation</a:t>
            </a:r>
            <a:endParaRPr lang="en-US" sz="1875" dirty="0"/>
          </a:p>
        </p:txBody>
      </p:sp>
      <p:sp>
        <p:nvSpPr>
          <p:cNvPr id="38" name="Shape 34"/>
          <p:cNvSpPr/>
          <p:nvPr/>
        </p:nvSpPr>
        <p:spPr>
          <a:xfrm>
            <a:off x="9733548" y="8919197"/>
            <a:ext cx="7355099" cy="9525"/>
          </a:xfrm>
          <a:prstGeom prst="rect">
            <a:avLst/>
          </a:prstGeom>
          <a:solidFill>
            <a:srgbClr val="D4AF37">
              <a:alpha val="30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9733548" y="9080293"/>
            <a:ext cx="7575752" cy="65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6"/>
              </a:lnSpc>
              <a:buNone/>
            </a:pPr>
            <a:r>
              <a:rPr lang="en-US" sz="180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Fail-safe branch: danger-flagged reports (live wire, gas leak, collapse) skip steps 3–5 and route straight to dispatch.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17554515" y="9620240"/>
            <a:ext cx="319595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91" r="-91"/>
          <a:stretch/>
        </p:blipFill>
        <p:spPr>
          <a:xfrm>
            <a:off x="14049372" y="209497"/>
            <a:ext cx="3390883" cy="17525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6724" y="780996"/>
            <a:ext cx="14144556" cy="7239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4760"/>
              </a:lnSpc>
              <a:buNone/>
            </a:pPr>
            <a:r>
              <a:rPr lang="en-US" sz="540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FEASIBILITY AND VIABILITY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66724" y="1990701"/>
            <a:ext cx="16573463" cy="2853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2"/>
          <p:cNvSpPr/>
          <p:nvPr/>
        </p:nvSpPr>
        <p:spPr>
          <a:xfrm>
            <a:off x="866724" y="2495492"/>
            <a:ext cx="5270518" cy="7227730"/>
          </a:xfrm>
          <a:prstGeom prst="roundRect">
            <a:avLst>
              <a:gd name="adj" fmla="val 3976"/>
            </a:avLst>
          </a:prstGeom>
          <a:solidFill>
            <a:srgbClr val="F2EEFA">
              <a:alpha val="3000"/>
            </a:srgbClr>
          </a:solidFill>
          <a:ln w="8695">
            <a:solidFill>
              <a:srgbClr val="D4AF37">
                <a:alpha val="5500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1250" b="-1250"/>
          <a:stretch/>
        </p:blipFill>
        <p:spPr>
          <a:xfrm>
            <a:off x="3216234" y="2789903"/>
            <a:ext cx="571499" cy="5714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39777" y="3513770"/>
            <a:ext cx="1896855" cy="520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BE69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Feasibility</a:t>
            </a:r>
            <a:endParaRPr lang="en-US" sz="2850" dirty="0"/>
          </a:p>
        </p:txBody>
      </p:sp>
      <p:sp>
        <p:nvSpPr>
          <p:cNvPr id="9" name="Text 4"/>
          <p:cNvSpPr/>
          <p:nvPr/>
        </p:nvSpPr>
        <p:spPr>
          <a:xfrm>
            <a:off x="1180155" y="4205845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Entirely open-source and self-hosted — near-zero marginal cost per complaint</a:t>
            </a:r>
            <a:endParaRPr lang="en-US" sz="1875" dirty="0"/>
          </a:p>
        </p:txBody>
      </p:sp>
      <p:sp>
        <p:nvSpPr>
          <p:cNvPr id="10" name="Text 5"/>
          <p:cNvSpPr/>
          <p:nvPr/>
        </p:nvSpPr>
        <p:spPr>
          <a:xfrm>
            <a:off x="1180155" y="5341370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Docker Compose command spins up the whole stack offline on a single laptop; no paid API, no rate limits</a:t>
            </a:r>
            <a:endParaRPr lang="en-US" sz="1875" dirty="0"/>
          </a:p>
        </p:txBody>
      </p:sp>
      <p:sp>
        <p:nvSpPr>
          <p:cNvPr id="11" name="Text 6"/>
          <p:cNvSpPr/>
          <p:nvPr/>
        </p:nvSpPr>
        <p:spPr>
          <a:xfrm>
            <a:off x="1180155" y="6476895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 runs about $30–50 per month per tenant against a ₹5,000–15,000 campus package</a:t>
            </a:r>
            <a:endParaRPr lang="en-US" sz="1875" dirty="0"/>
          </a:p>
        </p:txBody>
      </p:sp>
      <p:sp>
        <p:nvSpPr>
          <p:cNvPr id="12" name="Text 7"/>
          <p:cNvSpPr/>
          <p:nvPr/>
        </p:nvSpPr>
        <p:spPr>
          <a:xfrm>
            <a:off x="1180155" y="7612420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Hour-budgeted build plan with a stated fallback per feature and an explicit MVP cut line</a:t>
            </a:r>
            <a:endParaRPr lang="en-US" sz="1875" dirty="0"/>
          </a:p>
        </p:txBody>
      </p:sp>
      <p:sp>
        <p:nvSpPr>
          <p:cNvPr id="13" name="Shape 8"/>
          <p:cNvSpPr/>
          <p:nvPr/>
        </p:nvSpPr>
        <p:spPr>
          <a:xfrm>
            <a:off x="6518196" y="2495492"/>
            <a:ext cx="5270518" cy="7227730"/>
          </a:xfrm>
          <a:prstGeom prst="roundRect">
            <a:avLst>
              <a:gd name="adj" fmla="val 3976"/>
            </a:avLst>
          </a:prstGeom>
          <a:solidFill>
            <a:srgbClr val="F2EEFA">
              <a:alpha val="3000"/>
            </a:srgbClr>
          </a:solidFill>
          <a:ln w="8695">
            <a:solidFill>
              <a:srgbClr val="D4AF37">
                <a:alpha val="55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7706" y="2789903"/>
            <a:ext cx="571499" cy="5714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38263" y="3513770"/>
            <a:ext cx="2013349" cy="520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BE69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Challenges</a:t>
            </a:r>
            <a:endParaRPr lang="en-US" sz="2850" dirty="0"/>
          </a:p>
        </p:txBody>
      </p:sp>
      <p:sp>
        <p:nvSpPr>
          <p:cNvPr id="16" name="Text 10"/>
          <p:cNvSpPr/>
          <p:nvPr/>
        </p:nvSpPr>
        <p:spPr>
          <a:xfrm>
            <a:off x="6831628" y="4205845"/>
            <a:ext cx="4782966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Political resistance to contractor transparency in municipal contexts</a:t>
            </a:r>
            <a:endParaRPr lang="en-US" sz="1875" dirty="0"/>
          </a:p>
        </p:txBody>
      </p:sp>
      <p:sp>
        <p:nvSpPr>
          <p:cNvPr id="17" name="Text 11"/>
          <p:cNvSpPr/>
          <p:nvPr/>
        </p:nvSpPr>
        <p:spPr>
          <a:xfrm>
            <a:off x="6831628" y="5019991"/>
            <a:ext cx="4782966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Defamation exposure from flagging contractors on unverified anomalies</a:t>
            </a:r>
            <a:endParaRPr lang="en-US" sz="1875" dirty="0"/>
          </a:p>
        </p:txBody>
      </p:sp>
      <p:sp>
        <p:nvSpPr>
          <p:cNvPr id="18" name="Text 12"/>
          <p:cNvSpPr/>
          <p:nvPr/>
        </p:nvSpPr>
        <p:spPr>
          <a:xfrm>
            <a:off x="6831628" y="5834137"/>
            <a:ext cx="4782966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bias reinforcing existing inequality between wards</a:t>
            </a:r>
            <a:endParaRPr lang="en-US" sz="1875" dirty="0"/>
          </a:p>
        </p:txBody>
      </p:sp>
      <p:sp>
        <p:nvSpPr>
          <p:cNvPr id="19" name="Text 13"/>
          <p:cNvSpPr/>
          <p:nvPr/>
        </p:nvSpPr>
        <p:spPr>
          <a:xfrm>
            <a:off x="6831628" y="6648283"/>
            <a:ext cx="4782966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Coordinated fake reports and brigading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6831628" y="7462429"/>
            <a:ext cx="4782966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Over-scoped build; demo-day GPU or local-LLM failure</a:t>
            </a:r>
            <a:endParaRPr lang="en-US" sz="1875" dirty="0"/>
          </a:p>
        </p:txBody>
      </p:sp>
      <p:sp>
        <p:nvSpPr>
          <p:cNvPr id="21" name="Shape 15"/>
          <p:cNvSpPr/>
          <p:nvPr/>
        </p:nvSpPr>
        <p:spPr>
          <a:xfrm>
            <a:off x="12169669" y="2495492"/>
            <a:ext cx="5270518" cy="7227730"/>
          </a:xfrm>
          <a:prstGeom prst="roundRect">
            <a:avLst>
              <a:gd name="adj" fmla="val 3976"/>
            </a:avLst>
          </a:prstGeom>
          <a:solidFill>
            <a:srgbClr val="F2EEFA">
              <a:alpha val="3000"/>
            </a:srgbClr>
          </a:solidFill>
          <a:ln w="8695">
            <a:solidFill>
              <a:srgbClr val="D4AF37">
                <a:alpha val="55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5556" r="-5556"/>
          <a:stretch/>
        </p:blipFill>
        <p:spPr>
          <a:xfrm>
            <a:off x="14519179" y="2789903"/>
            <a:ext cx="571499" cy="571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971116" y="3513770"/>
            <a:ext cx="1834386" cy="520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BE69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Strategies</a:t>
            </a:r>
            <a:endParaRPr lang="en-US" sz="2850" dirty="0"/>
          </a:p>
        </p:txBody>
      </p:sp>
      <p:sp>
        <p:nvSpPr>
          <p:cNvPr id="24" name="Text 17"/>
          <p:cNvSpPr/>
          <p:nvPr/>
        </p:nvSpPr>
        <p:spPr>
          <a:xfrm>
            <a:off x="12483100" y="4205845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and industrial-park wedge first; municipal B2G as the long-term TAM</a:t>
            </a:r>
            <a:endParaRPr lang="en-US" sz="1875" dirty="0"/>
          </a:p>
        </p:txBody>
      </p:sp>
      <p:sp>
        <p:nvSpPr>
          <p:cNvPr id="25" name="Text 18"/>
          <p:cNvSpPr/>
          <p:nvPr/>
        </p:nvSpPr>
        <p:spPr>
          <a:xfrm>
            <a:off x="12483100" y="5341370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Human-review gate before any public flag, explicit “unverified” framing, and a dispute workflow</a:t>
            </a:r>
            <a:endParaRPr lang="en-US" sz="1875" dirty="0"/>
          </a:p>
        </p:txBody>
      </p:sp>
      <p:sp>
        <p:nvSpPr>
          <p:cNvPr id="26" name="Text 19"/>
          <p:cNvSpPr/>
          <p:nvPr/>
        </p:nvSpPr>
        <p:spPr>
          <a:xfrm>
            <a:off x="12483100" y="6476895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Underreporting-zone dashboard flag, with the limitation stated openly in the pitch</a:t>
            </a:r>
            <a:endParaRPr lang="en-US" sz="1875" dirty="0"/>
          </a:p>
        </p:txBody>
      </p:sp>
      <p:sp>
        <p:nvSpPr>
          <p:cNvPr id="27" name="Text 20"/>
          <p:cNvSpPr/>
          <p:nvPr/>
        </p:nvSpPr>
        <p:spPr>
          <a:xfrm>
            <a:off x="12483100" y="7612420"/>
            <a:ext cx="4782966" cy="6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 and geo-pattern abuse detection feeding a real review queue</a:t>
            </a:r>
            <a:endParaRPr lang="en-US" sz="1875" dirty="0"/>
          </a:p>
        </p:txBody>
      </p:sp>
      <p:sp>
        <p:nvSpPr>
          <p:cNvPr id="28" name="Text 21"/>
          <p:cNvSpPr/>
          <p:nvPr/>
        </p:nvSpPr>
        <p:spPr>
          <a:xfrm>
            <a:off x="12483100" y="8426566"/>
            <a:ext cx="4782966" cy="10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174"/>
              </a:lnSpc>
              <a:buNone/>
            </a:pP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fallback for the 3D scene built in parallel; rehearsed recorded-run fallback</a:t>
            </a:r>
            <a:endParaRPr lang="en-US" sz="1875" dirty="0"/>
          </a:p>
        </p:txBody>
      </p:sp>
      <p:sp>
        <p:nvSpPr>
          <p:cNvPr id="29" name="Text 22"/>
          <p:cNvSpPr/>
          <p:nvPr/>
        </p:nvSpPr>
        <p:spPr>
          <a:xfrm>
            <a:off x="17554515" y="9620240"/>
            <a:ext cx="327611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91" r="-91"/>
          <a:stretch/>
        </p:blipFill>
        <p:spPr>
          <a:xfrm>
            <a:off x="14049372" y="209497"/>
            <a:ext cx="3390883" cy="17525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6724" y="780996"/>
            <a:ext cx="14144556" cy="7239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4760"/>
              </a:lnSpc>
              <a:buNone/>
            </a:pPr>
            <a:r>
              <a:rPr lang="en-US" sz="540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IMPACT AND BENEFITS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66724" y="1990701"/>
            <a:ext cx="16573463" cy="28531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4" y="2609819"/>
            <a:ext cx="304736" cy="3714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80958" y="2552690"/>
            <a:ext cx="17665152" cy="507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Potential impact on the target audience</a:t>
            </a:r>
            <a:endParaRPr lang="en-US" sz="2475" dirty="0"/>
          </a:p>
        </p:txBody>
      </p:sp>
      <p:sp>
        <p:nvSpPr>
          <p:cNvPr id="8" name="Text 3"/>
          <p:cNvSpPr/>
          <p:nvPr/>
        </p:nvSpPr>
        <p:spPr>
          <a:xfrm>
            <a:off x="1380958" y="3174593"/>
            <a:ext cx="8035025" cy="731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Citizens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proof that a report ends in a verified fix, not a status flag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9639124" y="3174593"/>
            <a:ext cx="8035095" cy="731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&amp; industrial facilities heads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visibility into what maintenance actually got done versus merely logged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1380958" y="4001374"/>
            <a:ext cx="8035025" cy="731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Municipal ward officers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defensible resolution data to answer constituent pressure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39124" y="4001374"/>
            <a:ext cx="8035095" cy="731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Journalists &amp; RTI applicants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a queryable public record of who was paid and what was fixed</a:t>
            </a:r>
            <a:endParaRPr lang="en-US" sz="1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24" y="5190021"/>
            <a:ext cx="304736" cy="3714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80958" y="5132891"/>
            <a:ext cx="17665152" cy="507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Benefits of the solution</a:t>
            </a:r>
            <a:endParaRPr lang="en-US" sz="2475" dirty="0"/>
          </a:p>
        </p:txBody>
      </p:sp>
      <p:sp>
        <p:nvSpPr>
          <p:cNvPr id="14" name="Text 8"/>
          <p:cNvSpPr/>
          <p:nvPr/>
        </p:nvSpPr>
        <p:spPr>
          <a:xfrm>
            <a:off x="1380958" y="5754795"/>
            <a:ext cx="8035025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restores the reporting loop that keeps dying, and routes danger-flagged hazards immediately through the safety fail-safe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9639124" y="5754795"/>
            <a:ext cx="8035095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recurrence and cost-per-fix data exposes repeat poor work; milestone-based fund release ties money to verified evidence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1380958" y="6928293"/>
            <a:ext cx="8035025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Environmental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faster closure on waste overflow, illegal dumping and water leakage, with photo-verified proof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9639124" y="6928293"/>
            <a:ext cx="8035095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31"/>
              </a:lnSpc>
              <a:buNone/>
            </a:pPr>
            <a:r>
              <a:rPr lang="en-US" sz="1950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 </a:t>
            </a:r>
            <a:r>
              <a:rPr lang="en-US" sz="1950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DPDP-aligned by design: face blur, GPS coarsening, retention limits, India-region hosting, hash-chained audit trail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17554515" y="9620240"/>
            <a:ext cx="327407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7959" cy="1028697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91" r="-91"/>
          <a:stretch/>
        </p:blipFill>
        <p:spPr>
          <a:xfrm>
            <a:off x="14687510" y="219008"/>
            <a:ext cx="3390883" cy="17525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6724" y="780996"/>
            <a:ext cx="14144556" cy="7239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4760"/>
              </a:lnSpc>
              <a:buNone/>
            </a:pPr>
            <a:r>
              <a:rPr lang="en-US" sz="5400" b="1" dirty="0">
                <a:solidFill>
                  <a:srgbClr val="F2EEF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AND REFERENCES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66724" y="1990701"/>
            <a:ext cx="16573463" cy="2853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2"/>
          <p:cNvSpPr/>
          <p:nvPr/>
        </p:nvSpPr>
        <p:spPr>
          <a:xfrm>
            <a:off x="1342985" y="2590799"/>
            <a:ext cx="16628894" cy="5512622"/>
          </a:xfrm>
          <a:prstGeom prst="roundRect">
            <a:avLst>
              <a:gd name="adj" fmla="val 3801"/>
            </a:avLst>
          </a:prstGeom>
          <a:solidFill>
            <a:srgbClr val="F2EEFA">
              <a:alpha val="3000"/>
            </a:srgbClr>
          </a:solidFill>
          <a:ln w="8695">
            <a:solidFill>
              <a:srgbClr val="D4AF37">
                <a:alpha val="5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46961" y="3018557"/>
            <a:ext cx="777005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CLIP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Radford et al., 2021: zero-shot image classification; used via the open-source </a:t>
            </a:r>
            <a:r>
              <a:rPr lang="en-US" sz="1725" dirty="0">
                <a:solidFill>
                  <a:srgbClr val="E6D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open_clip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9924093" y="3018557"/>
            <a:ext cx="777012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Whisper / faster-whisper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multilingual speech-to-text, CPU-optimised for Hindi and Marathi voice complaints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1846961" y="3932832"/>
            <a:ext cx="777005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PostGIS &amp; pgvector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</a:t>
            </a:r>
            <a:r>
              <a:rPr lang="en-US" sz="1725" dirty="0">
                <a:solidFill>
                  <a:srgbClr val="E6D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ST_DWithin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radius queries and HNSW vector similarity inside a single Postgres instance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9924093" y="3932832"/>
            <a:ext cx="777012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DBSCAN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Ester et al., 1996: density-based clustering, used for the spatial-temporal grouping pass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846961" y="4847108"/>
            <a:ext cx="777005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SSIM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Wang et al., 2004: structural similarity index, used for before/after closure verification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9924093" y="4847108"/>
            <a:ext cx="777012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LangGraph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stateful, checkpointed agent orchestration as a tool-calling state machine rather than a chat loop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1846961" y="5761384"/>
            <a:ext cx="777005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DPDP Act, 2023 (India)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consent, retention and data-localisation requirements governing the privacy design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9924093" y="5761384"/>
            <a:ext cx="7770125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RTI Act, 2005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the legal precedent for public-records access that the transparency layer builds on</a:t>
            </a:r>
            <a:endParaRPr lang="en-US" sz="1875" dirty="0"/>
          </a:p>
        </p:txBody>
      </p:sp>
      <p:sp>
        <p:nvSpPr>
          <p:cNvPr id="15" name="Text 11"/>
          <p:cNvSpPr/>
          <p:nvPr/>
        </p:nvSpPr>
        <p:spPr>
          <a:xfrm>
            <a:off x="1846961" y="6675659"/>
            <a:ext cx="7770055" cy="1038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Entity resolution &amp; fraud-graph literature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vendor-network anomaly detection, the same problem class as mule-account detection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9924093" y="6675659"/>
            <a:ext cx="7770125" cy="1038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514"/>
              </a:lnSpc>
              <a:buNone/>
            </a:pPr>
            <a:r>
              <a:rPr lang="en-US" sz="1875" dirty="0">
                <a:solidFill>
                  <a:srgbClr val="FBE69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 civic-tech precedents </a:t>
            </a:r>
            <a:r>
              <a:rPr lang="en-US" sz="1875" dirty="0">
                <a:solidFill>
                  <a:srgbClr val="E6DD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municipal complaint apps and CV pothole-mapping projects, reviewed for the competitive gap analysis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17554515" y="9620240"/>
            <a:ext cx="328833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1104</Words>
  <Application>Microsoft Office PowerPoint</Application>
  <PresentationFormat>Custom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Playfair Display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Belhekar</cp:lastModifiedBy>
  <cp:revision>2</cp:revision>
  <dcterms:created xsi:type="dcterms:W3CDTF">2026-08-25T17:03:51Z</dcterms:created>
  <dcterms:modified xsi:type="dcterms:W3CDTF">2026-08-25T17:05:13Z</dcterms:modified>
</cp:coreProperties>
</file>