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850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8" Type="http://schemas.openxmlformats.org/officeDocument/2006/relationships/slide" Target="slides/slide7.xml"/><Relationship Id="rId51" Type="http://schemas.openxmlformats.org/officeDocument/2006/relationships/presProps" Target="presProp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g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g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jpg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jpg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jpg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jpg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jpg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jpg"/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jpg"/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jpg"/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jpg"/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jpg"/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jpg"/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jpg"/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jpg"/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jpg"/><Relationship Id="rId1" Type="http://schemas.openxmlformats.org/officeDocument/2006/relationships/slideLayout" Target="../slideLayouts/slideLayout7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jpg"/><Relationship Id="rId1" Type="http://schemas.openxmlformats.org/officeDocument/2006/relationships/slideLayout" Target="../slideLayouts/slideLayout7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jpg"/><Relationship Id="rId1" Type="http://schemas.openxmlformats.org/officeDocument/2006/relationships/slideLayout" Target="../slideLayouts/slideLayout7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jpg"/><Relationship Id="rId1" Type="http://schemas.openxmlformats.org/officeDocument/2006/relationships/slideLayout" Target="../slideLayouts/slideLayout7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jpg"/><Relationship Id="rId1" Type="http://schemas.openxmlformats.org/officeDocument/2006/relationships/slideLayout" Target="../slideLayouts/slideLayout7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jpg"/><Relationship Id="rId1" Type="http://schemas.openxmlformats.org/officeDocument/2006/relationships/slideLayout" Target="../slideLayouts/slideLayout7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613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nemesis-mark-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680" y="1051560"/>
            <a:ext cx="2583652" cy="13716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22960" y="2743200"/>
            <a:ext cx="10515600" cy="1371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0000"/>
              </a:lnSpc>
            </a:pPr>
            <a:r>
              <a:rPr sz="8800">
                <a:solidFill>
                  <a:srgbClr val="F4EDE1"/>
                </a:solidFill>
                <a:latin typeface="Segoe UI Black"/>
              </a:rPr>
              <a:t>NEMESIS</a:t>
            </a:r>
          </a:p>
        </p:txBody>
      </p:sp>
      <p:sp>
        <p:nvSpPr>
          <p:cNvPr id="5" name="Rectangle 4"/>
          <p:cNvSpPr/>
          <p:nvPr/>
        </p:nvSpPr>
        <p:spPr>
          <a:xfrm>
            <a:off x="868680" y="3913632"/>
            <a:ext cx="2011680" cy="38100"/>
          </a:xfrm>
          <a:prstGeom prst="rect">
            <a:avLst/>
          </a:prstGeom>
          <a:solidFill>
            <a:srgbClr val="FFB5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68680" y="4224528"/>
            <a:ext cx="8229600" cy="1280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>
                <a:solidFill>
                  <a:srgbClr val="EADCC7"/>
                </a:solidFill>
                <a:latin typeface="Segoe UI Semibold"/>
              </a:rPr>
              <a:t>AI CIVIC OPERATIONS AGENT</a:t>
            </a:r>
          </a:p>
          <a:p>
            <a:pPr algn="l">
              <a:lnSpc>
                <a:spcPct val="100000"/>
              </a:lnSpc>
              <a:spcBef>
                <a:spcPts val="800"/>
              </a:spcBef>
            </a:pPr>
            <a:r>
              <a:rPr sz="1300">
                <a:solidFill>
                  <a:srgbClr val="BFAE9B"/>
                </a:solidFill>
                <a:latin typeface="Segoe UI"/>
              </a:rPr>
              <a:t>Networked Enforcement &amp; Municipal Evidence System for Infrastructure &amp; Service Accountability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5532120"/>
            <a:ext cx="54864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>
                <a:solidFill>
                  <a:srgbClr val="FFB511"/>
                </a:solidFill>
                <a:latin typeface="Segoe UI Semibold"/>
              </a:rPr>
              <a:t>Prove, don't log.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80960" y="5650992"/>
            <a:ext cx="36576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>
                <a:solidFill>
                  <a:srgbClr val="8A7462"/>
                </a:solidFill>
                <a:latin typeface="Consolas"/>
              </a:rPr>
              <a:t>PROTOTYPE WALKTHROUGH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613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68680" y="77724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>
                <a:solidFill>
                  <a:srgbClr val="BFAE9B"/>
                </a:solidFill>
                <a:latin typeface="Consolas"/>
              </a:rPr>
              <a:t>THE PROBLEM</a:t>
            </a:r>
          </a:p>
        </p:txBody>
      </p:sp>
      <p:sp>
        <p:nvSpPr>
          <p:cNvPr id="4" name="Rectangle 3"/>
          <p:cNvSpPr/>
          <p:nvPr/>
        </p:nvSpPr>
        <p:spPr>
          <a:xfrm>
            <a:off x="868680" y="1170432"/>
            <a:ext cx="1463040" cy="38100"/>
          </a:xfrm>
          <a:prstGeom prst="rect">
            <a:avLst/>
          </a:prstGeom>
          <a:solidFill>
            <a:srgbClr val="FFB5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68680" y="1737360"/>
            <a:ext cx="10058400" cy="4023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3000">
                <a:solidFill>
                  <a:srgbClr val="F4EDE1"/>
                </a:solidFill>
                <a:latin typeface="Segoe UI Semibold"/>
              </a:rPr>
              <a:t>A pothole gets reported. The app says “In Progress”. Weeks pass.</a:t>
            </a:r>
          </a:p>
          <a:p>
            <a:pPr algn="l">
              <a:lnSpc>
                <a:spcPct val="122000"/>
              </a:lnSpc>
              <a:spcBef>
                <a:spcPts val="1600"/>
              </a:spcBef>
            </a:pPr>
            <a:r>
              <a:rPr sz="1700">
                <a:solidFill>
                  <a:srgbClr val="BFAE9B"/>
                </a:solidFill>
                <a:latin typeface="Segoe UI"/>
              </a:rPr>
              <a:t>No one knows who did the work, what it cost, or why it failed. So the next complaint never gets filed.</a:t>
            </a:r>
          </a:p>
          <a:p>
            <a:pPr algn="l">
              <a:lnSpc>
                <a:spcPct val="122000"/>
              </a:lnSpc>
              <a:spcBef>
                <a:spcPts val="1600"/>
              </a:spcBef>
            </a:pPr>
            <a:r>
              <a:rPr sz="1700">
                <a:solidFill>
                  <a:srgbClr val="BFAE9B"/>
                </a:solidFill>
                <a:latin typeface="Segoe UI"/>
              </a:rPr>
              <a:t>That silence isn't apathy. It's the sound of a system that broke its promise once too often.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D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68680" y="77724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>
                <a:solidFill>
                  <a:srgbClr val="8A7462"/>
                </a:solidFill>
                <a:latin typeface="Consolas"/>
              </a:rPr>
              <a:t>THE PREMISE</a:t>
            </a:r>
          </a:p>
        </p:txBody>
      </p:sp>
      <p:sp>
        <p:nvSpPr>
          <p:cNvPr id="4" name="Rectangle 3"/>
          <p:cNvSpPr/>
          <p:nvPr/>
        </p:nvSpPr>
        <p:spPr>
          <a:xfrm>
            <a:off x="868680" y="1170432"/>
            <a:ext cx="1463040" cy="38100"/>
          </a:xfrm>
          <a:prstGeom prst="rect">
            <a:avLst/>
          </a:prstGeom>
          <a:solidFill>
            <a:srgbClr val="0FA9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68680" y="1737360"/>
            <a:ext cx="10058400" cy="4023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3000">
                <a:solidFill>
                  <a:srgbClr val="16130F"/>
                </a:solidFill>
                <a:latin typeface="Segoe UI Semibold"/>
              </a:rPr>
              <a:t>A civic system earns trust by producing evidence, not status updates.</a:t>
            </a:r>
          </a:p>
          <a:p>
            <a:pPr algn="l">
              <a:lnSpc>
                <a:spcPct val="122000"/>
              </a:lnSpc>
              <a:spcBef>
                <a:spcPts val="1600"/>
              </a:spcBef>
            </a:pPr>
            <a:r>
              <a:rPr sz="1700">
                <a:solidFill>
                  <a:srgbClr val="8A7462"/>
                </a:solidFill>
                <a:latin typeface="Segoe UI"/>
              </a:rPr>
              <a:t>Every figure NEMESIS publishes is computed from an append-only event log. Every claim it makes about itself carries a status label. Nothing is edited by hand.</a:t>
            </a:r>
          </a:p>
          <a:p>
            <a:pPr algn="l">
              <a:lnSpc>
                <a:spcPct val="122000"/>
              </a:lnSpc>
              <a:spcBef>
                <a:spcPts val="1600"/>
              </a:spcBef>
            </a:pPr>
            <a:r>
              <a:rPr sz="1700">
                <a:solidFill>
                  <a:srgbClr val="8A7462"/>
                </a:solidFill>
                <a:latin typeface="Segoe UI"/>
              </a:rPr>
              <a:t>What follows is the running product, photographed against a seeded deployment of a demo city — not a mockup, and not a rendering of one.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613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68680" y="1371600"/>
            <a:ext cx="3657600" cy="2011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0000"/>
              </a:lnSpc>
            </a:pPr>
            <a:r>
              <a:rPr sz="12800">
                <a:solidFill>
                  <a:srgbClr val="925F52"/>
                </a:solidFill>
                <a:latin typeface="Segoe UI Black"/>
              </a:rPr>
              <a:t>01</a:t>
            </a:r>
          </a:p>
        </p:txBody>
      </p:sp>
      <p:sp>
        <p:nvSpPr>
          <p:cNvPr id="4" name="Rectangle 3"/>
          <p:cNvSpPr/>
          <p:nvPr/>
        </p:nvSpPr>
        <p:spPr>
          <a:xfrm>
            <a:off x="868680" y="3246120"/>
            <a:ext cx="10424160" cy="12700"/>
          </a:xfrm>
          <a:prstGeom prst="rect">
            <a:avLst/>
          </a:prstGeom>
          <a:solidFill>
            <a:srgbClr val="8A746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68680" y="3611880"/>
            <a:ext cx="960120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4000">
                <a:solidFill>
                  <a:srgbClr val="F4EDE1"/>
                </a:solidFill>
                <a:latin typeface="Segoe UI Semibold"/>
              </a:rPr>
              <a:t>The landing film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4617720"/>
            <a:ext cx="8412480" cy="1280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500">
                <a:solidFill>
                  <a:srgbClr val="BFAE9B"/>
                </a:solidFill>
                <a:latin typeface="Segoe UI"/>
              </a:rPr>
              <a:t>Nine acts over a 3D clay model of the city, scroll-driven. The model's light is that city's local time; its rain is that city's real weather.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418320" y="4617720"/>
            <a:ext cx="192024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>
                <a:solidFill>
                  <a:srgbClr val="FFB511"/>
                </a:solidFill>
                <a:latin typeface="Consolas"/>
              </a:rPr>
              <a:t>10 SCREENS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D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4105275" y="1073467"/>
            <a:ext cx="7379970" cy="4619625"/>
          </a:xfrm>
          <a:prstGeom prst="rect">
            <a:avLst/>
          </a:prstGeom>
          <a:noFill/>
          <a:ln w="9525">
            <a:solidFill>
              <a:srgbClr val="BFAE9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01-landing-cold-open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0" y="1082992"/>
            <a:ext cx="7360920" cy="4600575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13232" y="1188720"/>
            <a:ext cx="31089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>
                <a:solidFill>
                  <a:srgbClr val="925F52"/>
                </a:solidFill>
                <a:latin typeface="Consolas"/>
              </a:rPr>
              <a:t>THE LANDING FILM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1517904"/>
            <a:ext cx="822960" cy="38100"/>
          </a:xfrm>
          <a:prstGeom prst="rect">
            <a:avLst/>
          </a:prstGeom>
          <a:solidFill>
            <a:srgbClr val="0FA9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13232" y="1847088"/>
            <a:ext cx="3108960" cy="11887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2200">
                <a:solidFill>
                  <a:srgbClr val="16130F"/>
                </a:solidFill>
                <a:latin typeface="Segoe UI Semibold"/>
              </a:rPr>
              <a:t>Landing — cold open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" y="2926080"/>
            <a:ext cx="3108960" cy="2286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4000"/>
              </a:lnSpc>
            </a:pPr>
            <a:r>
              <a:rPr sz="1300">
                <a:solidFill>
                  <a:srgbClr val="8A7462"/>
                </a:solidFill>
                <a:latin typeface="Segoe UI"/>
              </a:rPr>
              <a:t>The wordmark over a clay model of the city, lit by that city's real local time and its real weather.</a:t>
            </a:r>
          </a:p>
        </p:txBody>
      </p:sp>
      <p:sp>
        <p:nvSpPr>
          <p:cNvPr id="9" name="Rectangle 8"/>
          <p:cNvSpPr/>
          <p:nvPr/>
        </p:nvSpPr>
        <p:spPr>
          <a:xfrm>
            <a:off x="713232" y="5440680"/>
            <a:ext cx="1324051" cy="237744"/>
          </a:xfrm>
          <a:prstGeom prst="rect">
            <a:avLst/>
          </a:prstGeom>
          <a:solidFill>
            <a:srgbClr val="E4DCCE"/>
          </a:solidFill>
          <a:ln w="9525">
            <a:solidFill>
              <a:srgbClr val="0A6B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900">
                <a:solidFill>
                  <a:srgbClr val="0A6B66"/>
                </a:solidFill>
                <a:latin typeface="Segoe UI Semibold"/>
              </a:rPr>
              <a:t>LIVE · REAL DATA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6327648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>
                <a:solidFill>
                  <a:srgbClr val="BFAE9B"/>
                </a:solidFill>
                <a:latin typeface="Consolas"/>
              </a:rPr>
              <a:t>/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0" y="6327648"/>
            <a:ext cx="235915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>
                <a:solidFill>
                  <a:srgbClr val="BFAE9B"/>
                </a:solidFill>
                <a:latin typeface="Consolas"/>
              </a:rPr>
              <a:t>01 / 38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D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4105275" y="1073467"/>
            <a:ext cx="7379970" cy="4619625"/>
          </a:xfrm>
          <a:prstGeom prst="rect">
            <a:avLst/>
          </a:prstGeom>
          <a:noFill/>
          <a:ln w="9525">
            <a:solidFill>
              <a:srgbClr val="BFAE9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02-landing-wal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0" y="1082992"/>
            <a:ext cx="7360920" cy="4600575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13232" y="1188720"/>
            <a:ext cx="31089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>
                <a:solidFill>
                  <a:srgbClr val="925F52"/>
                </a:solidFill>
                <a:latin typeface="Consolas"/>
              </a:rPr>
              <a:t>THE LANDING FILM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1517904"/>
            <a:ext cx="822960" cy="38100"/>
          </a:xfrm>
          <a:prstGeom prst="rect">
            <a:avLst/>
          </a:prstGeom>
          <a:solidFill>
            <a:srgbClr val="0FA9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13232" y="1847088"/>
            <a:ext cx="3108960" cy="11887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2200">
                <a:solidFill>
                  <a:srgbClr val="16130F"/>
                </a:solidFill>
                <a:latin typeface="Segoe UI Semibold"/>
              </a:rPr>
              <a:t>Act 1 — the walk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" y="2926080"/>
            <a:ext cx="3108960" cy="2286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4000"/>
              </a:lnSpc>
            </a:pPr>
            <a:r>
              <a:rPr sz="1300">
                <a:solidFill>
                  <a:srgbClr val="8A7462"/>
                </a:solidFill>
                <a:latin typeface="Segoe UI"/>
              </a:rPr>
              <a:t>A pothole gets reported. The app says “In Progress”. Weeks pass.</a:t>
            </a:r>
          </a:p>
        </p:txBody>
      </p:sp>
      <p:sp>
        <p:nvSpPr>
          <p:cNvPr id="9" name="Rectangle 8"/>
          <p:cNvSpPr/>
          <p:nvPr/>
        </p:nvSpPr>
        <p:spPr>
          <a:xfrm>
            <a:off x="713232" y="5440680"/>
            <a:ext cx="1324051" cy="237744"/>
          </a:xfrm>
          <a:prstGeom prst="rect">
            <a:avLst/>
          </a:prstGeom>
          <a:solidFill>
            <a:srgbClr val="E4DCCE"/>
          </a:solidFill>
          <a:ln w="9525">
            <a:solidFill>
              <a:srgbClr val="0A6B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900">
                <a:solidFill>
                  <a:srgbClr val="0A6B66"/>
                </a:solidFill>
                <a:latin typeface="Segoe UI Semibold"/>
              </a:rPr>
              <a:t>LIVE · REAL DATA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6327648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>
                <a:solidFill>
                  <a:srgbClr val="BFAE9B"/>
                </a:solidFill>
                <a:latin typeface="Consolas"/>
              </a:rPr>
              <a:t>/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0" y="6327648"/>
            <a:ext cx="235915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>
                <a:solidFill>
                  <a:srgbClr val="BFAE9B"/>
                </a:solidFill>
                <a:latin typeface="Consolas"/>
              </a:rPr>
              <a:t>02 / 38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D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4105275" y="1073467"/>
            <a:ext cx="7379970" cy="4619625"/>
          </a:xfrm>
          <a:prstGeom prst="rect">
            <a:avLst/>
          </a:prstGeom>
          <a:noFill/>
          <a:ln w="9525">
            <a:solidFill>
              <a:srgbClr val="BFAE9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03-landing-stop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0" y="1082992"/>
            <a:ext cx="7360920" cy="4600575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13232" y="1188720"/>
            <a:ext cx="31089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>
                <a:solidFill>
                  <a:srgbClr val="925F52"/>
                </a:solidFill>
                <a:latin typeface="Consolas"/>
              </a:rPr>
              <a:t>THE LANDING FILM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1517904"/>
            <a:ext cx="822960" cy="38100"/>
          </a:xfrm>
          <a:prstGeom prst="rect">
            <a:avLst/>
          </a:prstGeom>
          <a:solidFill>
            <a:srgbClr val="0FA9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13232" y="1847088"/>
            <a:ext cx="3108960" cy="11887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2200">
                <a:solidFill>
                  <a:srgbClr val="16130F"/>
                </a:solidFill>
                <a:latin typeface="Segoe UI Semibold"/>
              </a:rPr>
              <a:t>Act 2 — the stop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" y="2926080"/>
            <a:ext cx="3108960" cy="2286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4000"/>
              </a:lnSpc>
            </a:pPr>
            <a:r>
              <a:rPr sz="1300">
                <a:solidFill>
                  <a:srgbClr val="8A7462"/>
                </a:solidFill>
                <a:latin typeface="Segoe UI"/>
              </a:rPr>
              <a:t>The camera drops to ankle height and the problem fills the lower third.</a:t>
            </a:r>
          </a:p>
        </p:txBody>
      </p:sp>
      <p:sp>
        <p:nvSpPr>
          <p:cNvPr id="9" name="Rectangle 8"/>
          <p:cNvSpPr/>
          <p:nvPr/>
        </p:nvSpPr>
        <p:spPr>
          <a:xfrm>
            <a:off x="713232" y="5440680"/>
            <a:ext cx="1324051" cy="237744"/>
          </a:xfrm>
          <a:prstGeom prst="rect">
            <a:avLst/>
          </a:prstGeom>
          <a:solidFill>
            <a:srgbClr val="E4DCCE"/>
          </a:solidFill>
          <a:ln w="9525">
            <a:solidFill>
              <a:srgbClr val="0A6B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900">
                <a:solidFill>
                  <a:srgbClr val="0A6B66"/>
                </a:solidFill>
                <a:latin typeface="Segoe UI Semibold"/>
              </a:rPr>
              <a:t>LIVE · REAL DATA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6327648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>
                <a:solidFill>
                  <a:srgbClr val="BFAE9B"/>
                </a:solidFill>
                <a:latin typeface="Consolas"/>
              </a:rPr>
              <a:t>/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0" y="6327648"/>
            <a:ext cx="235915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>
                <a:solidFill>
                  <a:srgbClr val="BFAE9B"/>
                </a:solidFill>
                <a:latin typeface="Consolas"/>
              </a:rPr>
              <a:t>03 / 38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D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4105275" y="1073467"/>
            <a:ext cx="7379970" cy="4619625"/>
          </a:xfrm>
          <a:prstGeom prst="rect">
            <a:avLst/>
          </a:prstGeom>
          <a:noFill/>
          <a:ln w="9525">
            <a:solidFill>
              <a:srgbClr val="BFAE9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04-landing-silenc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0" y="1082992"/>
            <a:ext cx="7360920" cy="4600575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13232" y="1188720"/>
            <a:ext cx="31089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>
                <a:solidFill>
                  <a:srgbClr val="925F52"/>
                </a:solidFill>
                <a:latin typeface="Consolas"/>
              </a:rPr>
              <a:t>THE LANDING FILM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1517904"/>
            <a:ext cx="822960" cy="38100"/>
          </a:xfrm>
          <a:prstGeom prst="rect">
            <a:avLst/>
          </a:prstGeom>
          <a:solidFill>
            <a:srgbClr val="0FA9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13232" y="1847088"/>
            <a:ext cx="3108960" cy="11887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2200">
                <a:solidFill>
                  <a:srgbClr val="16130F"/>
                </a:solidFill>
                <a:latin typeface="Segoe UI Semibold"/>
              </a:rPr>
              <a:t>Act 3 — the silence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" y="2926080"/>
            <a:ext cx="3108960" cy="2286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4000"/>
              </a:lnSpc>
            </a:pPr>
            <a:r>
              <a:rPr sz="1300">
                <a:solidFill>
                  <a:srgbClr val="8A7462"/>
                </a:solidFill>
                <a:latin typeface="Segoe UI"/>
              </a:rPr>
              <a:t>One ghost flag for every report that was never closed. They dim together.</a:t>
            </a:r>
          </a:p>
        </p:txBody>
      </p:sp>
      <p:sp>
        <p:nvSpPr>
          <p:cNvPr id="9" name="Rectangle 8"/>
          <p:cNvSpPr/>
          <p:nvPr/>
        </p:nvSpPr>
        <p:spPr>
          <a:xfrm>
            <a:off x="713232" y="5440680"/>
            <a:ext cx="1324051" cy="237744"/>
          </a:xfrm>
          <a:prstGeom prst="rect">
            <a:avLst/>
          </a:prstGeom>
          <a:solidFill>
            <a:srgbClr val="E4DCCE"/>
          </a:solidFill>
          <a:ln w="9525">
            <a:solidFill>
              <a:srgbClr val="0A6B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900">
                <a:solidFill>
                  <a:srgbClr val="0A6B66"/>
                </a:solidFill>
                <a:latin typeface="Segoe UI Semibold"/>
              </a:rPr>
              <a:t>LIVE · REAL DATA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6327648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>
                <a:solidFill>
                  <a:srgbClr val="BFAE9B"/>
                </a:solidFill>
                <a:latin typeface="Consolas"/>
              </a:rPr>
              <a:t>/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0" y="6327648"/>
            <a:ext cx="235915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>
                <a:solidFill>
                  <a:srgbClr val="BFAE9B"/>
                </a:solidFill>
                <a:latin typeface="Consolas"/>
              </a:rPr>
              <a:t>04 / 38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D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4105275" y="1073467"/>
            <a:ext cx="7379970" cy="4619625"/>
          </a:xfrm>
          <a:prstGeom prst="rect">
            <a:avLst/>
          </a:prstGeom>
          <a:noFill/>
          <a:ln w="9525">
            <a:solidFill>
              <a:srgbClr val="BFAE9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05-landing-repor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0" y="1082992"/>
            <a:ext cx="7360920" cy="4600575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13232" y="1188720"/>
            <a:ext cx="31089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>
                <a:solidFill>
                  <a:srgbClr val="925F52"/>
                </a:solidFill>
                <a:latin typeface="Consolas"/>
              </a:rPr>
              <a:t>THE LANDING FILM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1517904"/>
            <a:ext cx="822960" cy="38100"/>
          </a:xfrm>
          <a:prstGeom prst="rect">
            <a:avLst/>
          </a:prstGeom>
          <a:solidFill>
            <a:srgbClr val="0FA9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13232" y="1847088"/>
            <a:ext cx="3108960" cy="11887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2200">
                <a:solidFill>
                  <a:srgbClr val="16130F"/>
                </a:solidFill>
                <a:latin typeface="Segoe UI Semibold"/>
              </a:rPr>
              <a:t>Act 4 — the report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" y="2926080"/>
            <a:ext cx="3108960" cy="2286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4000"/>
              </a:lnSpc>
            </a:pPr>
            <a:r>
              <a:rPr sz="1300">
                <a:solidFill>
                  <a:srgbClr val="8A7462"/>
                </a:solidFill>
                <a:latin typeface="Segoe UI"/>
              </a:rPr>
              <a:t>The camera pushes through the phone into the real citizen app, running in the page.</a:t>
            </a:r>
          </a:p>
        </p:txBody>
      </p:sp>
      <p:sp>
        <p:nvSpPr>
          <p:cNvPr id="9" name="Rectangle 8"/>
          <p:cNvSpPr/>
          <p:nvPr/>
        </p:nvSpPr>
        <p:spPr>
          <a:xfrm>
            <a:off x="713232" y="5440680"/>
            <a:ext cx="1324051" cy="237744"/>
          </a:xfrm>
          <a:prstGeom prst="rect">
            <a:avLst/>
          </a:prstGeom>
          <a:solidFill>
            <a:srgbClr val="E4DCCE"/>
          </a:solidFill>
          <a:ln w="9525">
            <a:solidFill>
              <a:srgbClr val="0A6B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900">
                <a:solidFill>
                  <a:srgbClr val="0A6B66"/>
                </a:solidFill>
                <a:latin typeface="Segoe UI Semibold"/>
              </a:rPr>
              <a:t>LIVE · REAL DATA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6327648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>
                <a:solidFill>
                  <a:srgbClr val="BFAE9B"/>
                </a:solidFill>
                <a:latin typeface="Consolas"/>
              </a:rPr>
              <a:t>/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0" y="6327648"/>
            <a:ext cx="235915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>
                <a:solidFill>
                  <a:srgbClr val="BFAE9B"/>
                </a:solidFill>
                <a:latin typeface="Consolas"/>
              </a:rPr>
              <a:t>05 / 38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D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4105275" y="1073467"/>
            <a:ext cx="7379970" cy="4619625"/>
          </a:xfrm>
          <a:prstGeom prst="rect">
            <a:avLst/>
          </a:prstGeom>
          <a:noFill/>
          <a:ln w="9525">
            <a:solidFill>
              <a:srgbClr val="BFAE9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06-landing-pipelin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0" y="1082992"/>
            <a:ext cx="7360920" cy="4600575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13232" y="1188720"/>
            <a:ext cx="31089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>
                <a:solidFill>
                  <a:srgbClr val="925F52"/>
                </a:solidFill>
                <a:latin typeface="Consolas"/>
              </a:rPr>
              <a:t>THE LANDING FILM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1517904"/>
            <a:ext cx="822960" cy="38100"/>
          </a:xfrm>
          <a:prstGeom prst="rect">
            <a:avLst/>
          </a:prstGeom>
          <a:solidFill>
            <a:srgbClr val="0FA9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13232" y="1847088"/>
            <a:ext cx="3108960" cy="11887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2200">
                <a:solidFill>
                  <a:srgbClr val="16130F"/>
                </a:solidFill>
                <a:latin typeface="Segoe UI Semibold"/>
              </a:rPr>
              <a:t>Act 5 — the pipeline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" y="2926080"/>
            <a:ext cx="3108960" cy="2286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4000"/>
              </a:lnSpc>
            </a:pPr>
            <a:r>
              <a:rPr sz="1300">
                <a:solidFill>
                  <a:srgbClr val="8A7462"/>
                </a:solidFill>
                <a:latin typeface="Segoe UI"/>
              </a:rPr>
              <a:t>Every gate stamps the card with what it found. A stamp is an event from the log, never a status flag.</a:t>
            </a:r>
          </a:p>
        </p:txBody>
      </p:sp>
      <p:sp>
        <p:nvSpPr>
          <p:cNvPr id="9" name="Rectangle 8"/>
          <p:cNvSpPr/>
          <p:nvPr/>
        </p:nvSpPr>
        <p:spPr>
          <a:xfrm>
            <a:off x="713232" y="5440680"/>
            <a:ext cx="1324051" cy="237744"/>
          </a:xfrm>
          <a:prstGeom prst="rect">
            <a:avLst/>
          </a:prstGeom>
          <a:solidFill>
            <a:srgbClr val="E4DCCE"/>
          </a:solidFill>
          <a:ln w="9525">
            <a:solidFill>
              <a:srgbClr val="0A6B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900">
                <a:solidFill>
                  <a:srgbClr val="0A6B66"/>
                </a:solidFill>
                <a:latin typeface="Segoe UI Semibold"/>
              </a:rPr>
              <a:t>LIVE · REAL DATA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6327648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>
                <a:solidFill>
                  <a:srgbClr val="BFAE9B"/>
                </a:solidFill>
                <a:latin typeface="Consolas"/>
              </a:rPr>
              <a:t>/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0" y="6327648"/>
            <a:ext cx="235915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>
                <a:solidFill>
                  <a:srgbClr val="BFAE9B"/>
                </a:solidFill>
                <a:latin typeface="Consolas"/>
              </a:rPr>
              <a:t>06 / 38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D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4105275" y="1073467"/>
            <a:ext cx="7379970" cy="4619625"/>
          </a:xfrm>
          <a:prstGeom prst="rect">
            <a:avLst/>
          </a:prstGeom>
          <a:noFill/>
          <a:ln w="9525">
            <a:solidFill>
              <a:srgbClr val="BFAE9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07-landing-mer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0" y="1082992"/>
            <a:ext cx="7360920" cy="4600575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13232" y="1188720"/>
            <a:ext cx="31089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>
                <a:solidFill>
                  <a:srgbClr val="925F52"/>
                </a:solidFill>
                <a:latin typeface="Consolas"/>
              </a:rPr>
              <a:t>THE LANDING FILM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1517904"/>
            <a:ext cx="822960" cy="38100"/>
          </a:xfrm>
          <a:prstGeom prst="rect">
            <a:avLst/>
          </a:prstGeom>
          <a:solidFill>
            <a:srgbClr val="0FA9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13232" y="1847088"/>
            <a:ext cx="3108960" cy="11887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2200">
                <a:solidFill>
                  <a:srgbClr val="16130F"/>
                </a:solidFill>
                <a:latin typeface="Segoe UI Semibold"/>
              </a:rPr>
              <a:t>Act 6 — the merge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" y="2926080"/>
            <a:ext cx="3108960" cy="2286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4000"/>
              </a:lnSpc>
            </a:pPr>
            <a:r>
              <a:rPr sz="1300">
                <a:solidFill>
                  <a:srgbClr val="8A7462"/>
                </a:solidFill>
                <a:latin typeface="Segoe UI"/>
              </a:rPr>
              <a:t>Duplicate reports fuse into one cluster — and the scene waits for a real match rather than playing one.</a:t>
            </a:r>
          </a:p>
        </p:txBody>
      </p:sp>
      <p:sp>
        <p:nvSpPr>
          <p:cNvPr id="9" name="Rectangle 8"/>
          <p:cNvSpPr/>
          <p:nvPr/>
        </p:nvSpPr>
        <p:spPr>
          <a:xfrm>
            <a:off x="713232" y="5440680"/>
            <a:ext cx="1324051" cy="237744"/>
          </a:xfrm>
          <a:prstGeom prst="rect">
            <a:avLst/>
          </a:prstGeom>
          <a:solidFill>
            <a:srgbClr val="E4DCCE"/>
          </a:solidFill>
          <a:ln w="9525">
            <a:solidFill>
              <a:srgbClr val="0A6B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900">
                <a:solidFill>
                  <a:srgbClr val="0A6B66"/>
                </a:solidFill>
                <a:latin typeface="Segoe UI Semibold"/>
              </a:rPr>
              <a:t>LIVE · REAL DATA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6327648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>
                <a:solidFill>
                  <a:srgbClr val="BFAE9B"/>
                </a:solidFill>
                <a:latin typeface="Consolas"/>
              </a:rPr>
              <a:t>/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0" y="6327648"/>
            <a:ext cx="235915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>
                <a:solidFill>
                  <a:srgbClr val="BFAE9B"/>
                </a:solidFill>
                <a:latin typeface="Consolas"/>
              </a:rPr>
              <a:t>07 / 38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D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4105275" y="1073467"/>
            <a:ext cx="7379970" cy="4619625"/>
          </a:xfrm>
          <a:prstGeom prst="rect">
            <a:avLst/>
          </a:prstGeom>
          <a:noFill/>
          <a:ln w="9525">
            <a:solidFill>
              <a:srgbClr val="BFAE9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08-landing-city-awak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0" y="1082992"/>
            <a:ext cx="7360920" cy="4600575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13232" y="1188720"/>
            <a:ext cx="31089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>
                <a:solidFill>
                  <a:srgbClr val="925F52"/>
                </a:solidFill>
                <a:latin typeface="Consolas"/>
              </a:rPr>
              <a:t>THE LANDING FILM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1517904"/>
            <a:ext cx="822960" cy="38100"/>
          </a:xfrm>
          <a:prstGeom prst="rect">
            <a:avLst/>
          </a:prstGeom>
          <a:solidFill>
            <a:srgbClr val="0FA9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13232" y="1847088"/>
            <a:ext cx="3108960" cy="11887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2200">
                <a:solidFill>
                  <a:srgbClr val="16130F"/>
                </a:solidFill>
                <a:latin typeface="Segoe UI Semibold"/>
              </a:rPr>
              <a:t>Act 7 — the city, awake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" y="2926080"/>
            <a:ext cx="3108960" cy="2286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4000"/>
              </a:lnSpc>
            </a:pPr>
            <a:r>
              <a:rPr sz="1300">
                <a:solidFill>
                  <a:srgbClr val="8A7462"/>
                </a:solidFill>
                <a:latin typeface="Segoe UI"/>
              </a:rPr>
              <a:t>The survey: every ward this deployment publishes, drawn from the live open-data API.</a:t>
            </a:r>
          </a:p>
        </p:txBody>
      </p:sp>
      <p:sp>
        <p:nvSpPr>
          <p:cNvPr id="9" name="Rectangle 8"/>
          <p:cNvSpPr/>
          <p:nvPr/>
        </p:nvSpPr>
        <p:spPr>
          <a:xfrm>
            <a:off x="713232" y="5440680"/>
            <a:ext cx="1324051" cy="237744"/>
          </a:xfrm>
          <a:prstGeom prst="rect">
            <a:avLst/>
          </a:prstGeom>
          <a:solidFill>
            <a:srgbClr val="E4DCCE"/>
          </a:solidFill>
          <a:ln w="9525">
            <a:solidFill>
              <a:srgbClr val="0A6B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900">
                <a:solidFill>
                  <a:srgbClr val="0A6B66"/>
                </a:solidFill>
                <a:latin typeface="Segoe UI Semibold"/>
              </a:rPr>
              <a:t>LIVE · REAL DATA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6327648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>
                <a:solidFill>
                  <a:srgbClr val="BFAE9B"/>
                </a:solidFill>
                <a:latin typeface="Consolas"/>
              </a:rPr>
              <a:t>/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0" y="6327648"/>
            <a:ext cx="235915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>
                <a:solidFill>
                  <a:srgbClr val="BFAE9B"/>
                </a:solidFill>
                <a:latin typeface="Consolas"/>
              </a:rPr>
              <a:t>08 / 38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D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4105275" y="1073467"/>
            <a:ext cx="7379970" cy="4619625"/>
          </a:xfrm>
          <a:prstGeom prst="rect">
            <a:avLst/>
          </a:prstGeom>
          <a:noFill/>
          <a:ln w="9525">
            <a:solidFill>
              <a:srgbClr val="BFAE9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09-landing-tabl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0" y="1082992"/>
            <a:ext cx="7360920" cy="4600575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13232" y="1188720"/>
            <a:ext cx="31089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>
                <a:solidFill>
                  <a:srgbClr val="925F52"/>
                </a:solidFill>
                <a:latin typeface="Consolas"/>
              </a:rPr>
              <a:t>THE LANDING FILM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1517904"/>
            <a:ext cx="822960" cy="38100"/>
          </a:xfrm>
          <a:prstGeom prst="rect">
            <a:avLst/>
          </a:prstGeom>
          <a:solidFill>
            <a:srgbClr val="0FA9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13232" y="1847088"/>
            <a:ext cx="3108960" cy="11887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2200">
                <a:solidFill>
                  <a:srgbClr val="16130F"/>
                </a:solidFill>
                <a:latin typeface="Segoe UI Semibold"/>
              </a:rPr>
              <a:t>Act 8 — the table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" y="2926080"/>
            <a:ext cx="3108960" cy="2286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4000"/>
              </a:lnSpc>
            </a:pPr>
            <a:r>
              <a:rPr sz="1300">
                <a:solidFill>
                  <a:srgbClr val="8A7462"/>
                </a:solidFill>
                <a:latin typeface="Segoe UI"/>
              </a:rPr>
              <a:t>The model, photographed on the bench it was made on. The next frame is the console.</a:t>
            </a:r>
          </a:p>
        </p:txBody>
      </p:sp>
      <p:sp>
        <p:nvSpPr>
          <p:cNvPr id="9" name="Rectangle 8"/>
          <p:cNvSpPr/>
          <p:nvPr/>
        </p:nvSpPr>
        <p:spPr>
          <a:xfrm>
            <a:off x="713232" y="5440680"/>
            <a:ext cx="1324051" cy="237744"/>
          </a:xfrm>
          <a:prstGeom prst="rect">
            <a:avLst/>
          </a:prstGeom>
          <a:solidFill>
            <a:srgbClr val="E4DCCE"/>
          </a:solidFill>
          <a:ln w="9525">
            <a:solidFill>
              <a:srgbClr val="0A6B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900">
                <a:solidFill>
                  <a:srgbClr val="0A6B66"/>
                </a:solidFill>
                <a:latin typeface="Segoe UI Semibold"/>
              </a:rPr>
              <a:t>LIVE · REAL DATA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6327648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>
                <a:solidFill>
                  <a:srgbClr val="BFAE9B"/>
                </a:solidFill>
                <a:latin typeface="Consolas"/>
              </a:rPr>
              <a:t>/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0" y="6327648"/>
            <a:ext cx="235915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>
                <a:solidFill>
                  <a:srgbClr val="BFAE9B"/>
                </a:solidFill>
                <a:latin typeface="Consolas"/>
              </a:rPr>
              <a:t>09 / 38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D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4105275" y="1073467"/>
            <a:ext cx="7379970" cy="4619625"/>
          </a:xfrm>
          <a:prstGeom prst="rect">
            <a:avLst/>
          </a:prstGeom>
          <a:noFill/>
          <a:ln w="9525">
            <a:solidFill>
              <a:srgbClr val="BFAE9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10-landing-receipts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0" y="1082992"/>
            <a:ext cx="7360920" cy="4600575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13232" y="1188720"/>
            <a:ext cx="31089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>
                <a:solidFill>
                  <a:srgbClr val="925F52"/>
                </a:solidFill>
                <a:latin typeface="Consolas"/>
              </a:rPr>
              <a:t>THE LANDING FILM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1517904"/>
            <a:ext cx="822960" cy="38100"/>
          </a:xfrm>
          <a:prstGeom prst="rect">
            <a:avLst/>
          </a:prstGeom>
          <a:solidFill>
            <a:srgbClr val="0FA9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13232" y="1847088"/>
            <a:ext cx="3108960" cy="11887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2200">
                <a:solidFill>
                  <a:srgbClr val="16130F"/>
                </a:solidFill>
                <a:latin typeface="Segoe UI Semibold"/>
              </a:rPr>
              <a:t>Act 9 — the receipts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" y="2926080"/>
            <a:ext cx="3108960" cy="2286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4000"/>
              </a:lnSpc>
            </a:pPr>
            <a:r>
              <a:rPr sz="1300">
                <a:solidFill>
                  <a:srgbClr val="8A7462"/>
                </a:solidFill>
                <a:latin typeface="Segoe UI"/>
              </a:rPr>
              <a:t>Deliberately boring: a live curl against the public API, and every claim carrying a status label.</a:t>
            </a:r>
          </a:p>
        </p:txBody>
      </p:sp>
      <p:sp>
        <p:nvSpPr>
          <p:cNvPr id="9" name="Rectangle 8"/>
          <p:cNvSpPr/>
          <p:nvPr/>
        </p:nvSpPr>
        <p:spPr>
          <a:xfrm>
            <a:off x="713232" y="5440680"/>
            <a:ext cx="1324051" cy="237744"/>
          </a:xfrm>
          <a:prstGeom prst="rect">
            <a:avLst/>
          </a:prstGeom>
          <a:solidFill>
            <a:srgbClr val="E4DCCE"/>
          </a:solidFill>
          <a:ln w="9525">
            <a:solidFill>
              <a:srgbClr val="0A6B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900">
                <a:solidFill>
                  <a:srgbClr val="0A6B66"/>
                </a:solidFill>
                <a:latin typeface="Segoe UI Semibold"/>
              </a:rPr>
              <a:t>LIVE · REAL DATA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6327648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>
                <a:solidFill>
                  <a:srgbClr val="BFAE9B"/>
                </a:solidFill>
                <a:latin typeface="Consolas"/>
              </a:rPr>
              <a:t>/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0" y="6327648"/>
            <a:ext cx="235915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>
                <a:solidFill>
                  <a:srgbClr val="BFAE9B"/>
                </a:solidFill>
                <a:latin typeface="Consolas"/>
              </a:rPr>
              <a:t>10 / 38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613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68680" y="1371600"/>
            <a:ext cx="3657600" cy="2011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0000"/>
              </a:lnSpc>
            </a:pPr>
            <a:r>
              <a:rPr sz="12800">
                <a:solidFill>
                  <a:srgbClr val="925F52"/>
                </a:solidFill>
                <a:latin typeface="Segoe UI Black"/>
              </a:rPr>
              <a:t>02</a:t>
            </a:r>
          </a:p>
        </p:txBody>
      </p:sp>
      <p:sp>
        <p:nvSpPr>
          <p:cNvPr id="4" name="Rectangle 3"/>
          <p:cNvSpPr/>
          <p:nvPr/>
        </p:nvSpPr>
        <p:spPr>
          <a:xfrm>
            <a:off x="868680" y="3246120"/>
            <a:ext cx="10424160" cy="12700"/>
          </a:xfrm>
          <a:prstGeom prst="rect">
            <a:avLst/>
          </a:prstGeom>
          <a:solidFill>
            <a:srgbClr val="8A746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68680" y="3611880"/>
            <a:ext cx="960120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4000">
                <a:solidFill>
                  <a:srgbClr val="F4EDE1"/>
                </a:solidFill>
                <a:latin typeface="Segoe UI Semibold"/>
              </a:rPr>
              <a:t>The resident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4617720"/>
            <a:ext cx="8412480" cy="1280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500">
                <a:solidFill>
                  <a:srgbClr val="BFAE9B"/>
                </a:solidFill>
                <a:latin typeface="Segoe UI"/>
              </a:rPr>
              <a:t>Photograph it, say where, send. Then a receipt whose claim is a hash, and an evidence trail nobody can look up by your name.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418320" y="4617720"/>
            <a:ext cx="192024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>
                <a:solidFill>
                  <a:srgbClr val="FFB511"/>
                </a:solidFill>
                <a:latin typeface="Consolas"/>
              </a:rPr>
              <a:t>6 SCREENS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D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4105275" y="1073467"/>
            <a:ext cx="7379970" cy="4619625"/>
          </a:xfrm>
          <a:prstGeom prst="rect">
            <a:avLst/>
          </a:prstGeom>
          <a:noFill/>
          <a:ln w="9525">
            <a:solidFill>
              <a:srgbClr val="BFAE9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11-resident-hom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0" y="1082992"/>
            <a:ext cx="7360920" cy="4600575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13232" y="1188720"/>
            <a:ext cx="31089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>
                <a:solidFill>
                  <a:srgbClr val="925F52"/>
                </a:solidFill>
                <a:latin typeface="Consolas"/>
              </a:rPr>
              <a:t>THE RESIDENT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1517904"/>
            <a:ext cx="822960" cy="38100"/>
          </a:xfrm>
          <a:prstGeom prst="rect">
            <a:avLst/>
          </a:prstGeom>
          <a:solidFill>
            <a:srgbClr val="0FA9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13232" y="1847088"/>
            <a:ext cx="3108960" cy="11887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2200">
                <a:solidFill>
                  <a:srgbClr val="16130F"/>
                </a:solidFill>
                <a:latin typeface="Segoe UI Semibold"/>
              </a:rPr>
              <a:t>Resident — the three doors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" y="2926080"/>
            <a:ext cx="3108960" cy="2286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4000"/>
              </a:lnSpc>
            </a:pPr>
            <a:r>
              <a:rPr sz="1300">
                <a:solidFill>
                  <a:srgbClr val="8A7462"/>
                </a:solidFill>
                <a:latin typeface="Segoe UI"/>
              </a:rPr>
              <a:t>Report a problem, follow a report by its receipt id, or read what the city publishes about itself.</a:t>
            </a:r>
          </a:p>
        </p:txBody>
      </p:sp>
      <p:sp>
        <p:nvSpPr>
          <p:cNvPr id="9" name="Rectangle 8"/>
          <p:cNvSpPr/>
          <p:nvPr/>
        </p:nvSpPr>
        <p:spPr>
          <a:xfrm>
            <a:off x="713232" y="5440680"/>
            <a:ext cx="1324051" cy="237744"/>
          </a:xfrm>
          <a:prstGeom prst="rect">
            <a:avLst/>
          </a:prstGeom>
          <a:solidFill>
            <a:srgbClr val="E4DCCE"/>
          </a:solidFill>
          <a:ln w="9525">
            <a:solidFill>
              <a:srgbClr val="0A6B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900">
                <a:solidFill>
                  <a:srgbClr val="0A6B66"/>
                </a:solidFill>
                <a:latin typeface="Segoe UI Semibold"/>
              </a:rPr>
              <a:t>LIVE · REAL DATA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6327648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>
                <a:solidFill>
                  <a:srgbClr val="BFAE9B"/>
                </a:solidFill>
                <a:latin typeface="Consolas"/>
              </a:rPr>
              <a:t>/citizen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0" y="6327648"/>
            <a:ext cx="235915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>
                <a:solidFill>
                  <a:srgbClr val="BFAE9B"/>
                </a:solidFill>
                <a:latin typeface="Consolas"/>
              </a:rPr>
              <a:t>11 / 38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D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953811" y="859155"/>
            <a:ext cx="2390057" cy="5139690"/>
          </a:xfrm>
          <a:prstGeom prst="rect">
            <a:avLst/>
          </a:prstGeom>
          <a:noFill/>
          <a:ln w="9525">
            <a:solidFill>
              <a:srgbClr val="BFAE9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12-resident-captur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3336" y="868680"/>
            <a:ext cx="2371007" cy="512064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114800" y="118872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>
                <a:solidFill>
                  <a:srgbClr val="925F52"/>
                </a:solidFill>
                <a:latin typeface="Consolas"/>
              </a:rPr>
              <a:t>THE RESIDENT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0" y="1517904"/>
            <a:ext cx="822960" cy="38100"/>
          </a:xfrm>
          <a:prstGeom prst="rect">
            <a:avLst/>
          </a:prstGeom>
          <a:solidFill>
            <a:srgbClr val="0FA9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114800" y="1847088"/>
            <a:ext cx="7315200" cy="11887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2200">
                <a:solidFill>
                  <a:srgbClr val="16130F"/>
                </a:solidFill>
                <a:latin typeface="Segoe UI Semibold"/>
              </a:rPr>
              <a:t>Resident — step 1, capture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0" y="2926080"/>
            <a:ext cx="7315200" cy="2286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4000"/>
              </a:lnSpc>
            </a:pPr>
            <a:r>
              <a:rPr sz="1300">
                <a:solidFill>
                  <a:srgbClr val="8A7462"/>
                </a:solidFill>
                <a:latin typeface="Segoe UI"/>
              </a:rPr>
              <a:t>Photograph it, say where, send. About thirty seconds, and the viewfinder is the first screen.</a:t>
            </a:r>
          </a:p>
        </p:txBody>
      </p:sp>
      <p:sp>
        <p:nvSpPr>
          <p:cNvPr id="9" name="Rectangle 8"/>
          <p:cNvSpPr/>
          <p:nvPr/>
        </p:nvSpPr>
        <p:spPr>
          <a:xfrm>
            <a:off x="4114800" y="5440680"/>
            <a:ext cx="1324051" cy="237744"/>
          </a:xfrm>
          <a:prstGeom prst="rect">
            <a:avLst/>
          </a:prstGeom>
          <a:solidFill>
            <a:srgbClr val="E4DCCE"/>
          </a:solidFill>
          <a:ln w="9525">
            <a:solidFill>
              <a:srgbClr val="0A6B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900">
                <a:solidFill>
                  <a:srgbClr val="0A6B66"/>
                </a:solidFill>
                <a:latin typeface="Segoe UI Semibold"/>
              </a:rPr>
              <a:t>LIVE · REAL DATA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6327648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>
                <a:solidFill>
                  <a:srgbClr val="BFAE9B"/>
                </a:solidFill>
                <a:latin typeface="Consolas"/>
              </a:rPr>
              <a:t>/report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0" y="6327648"/>
            <a:ext cx="235915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>
                <a:solidFill>
                  <a:srgbClr val="BFAE9B"/>
                </a:solidFill>
                <a:latin typeface="Consolas"/>
              </a:rPr>
              <a:t>12 / 38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D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953811" y="859155"/>
            <a:ext cx="2390057" cy="5139690"/>
          </a:xfrm>
          <a:prstGeom prst="rect">
            <a:avLst/>
          </a:prstGeom>
          <a:noFill/>
          <a:ln w="9525">
            <a:solidFill>
              <a:srgbClr val="BFAE9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13-resident-describ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3336" y="868680"/>
            <a:ext cx="2371007" cy="512064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114800" y="118872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>
                <a:solidFill>
                  <a:srgbClr val="925F52"/>
                </a:solidFill>
                <a:latin typeface="Consolas"/>
              </a:rPr>
              <a:t>THE RESIDENT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0" y="1517904"/>
            <a:ext cx="822960" cy="38100"/>
          </a:xfrm>
          <a:prstGeom prst="rect">
            <a:avLst/>
          </a:prstGeom>
          <a:solidFill>
            <a:srgbClr val="0FA9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114800" y="1847088"/>
            <a:ext cx="7315200" cy="11887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2200">
                <a:solidFill>
                  <a:srgbClr val="16130F"/>
                </a:solidFill>
                <a:latin typeface="Segoe UI Semibold"/>
              </a:rPr>
              <a:t>Resident — step 1, in your own words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0" y="2926080"/>
            <a:ext cx="7315200" cy="2286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4000"/>
              </a:lnSpc>
            </a:pPr>
            <a:r>
              <a:rPr sz="1300">
                <a:solidFill>
                  <a:srgbClr val="8A7462"/>
                </a:solidFill>
                <a:latin typeface="Segoe UI"/>
              </a:rPr>
              <a:t>A four-second undo on the photograph, and one optional line. The flow completes if it is left empty.</a:t>
            </a:r>
          </a:p>
        </p:txBody>
      </p:sp>
      <p:sp>
        <p:nvSpPr>
          <p:cNvPr id="9" name="Rectangle 8"/>
          <p:cNvSpPr/>
          <p:nvPr/>
        </p:nvSpPr>
        <p:spPr>
          <a:xfrm>
            <a:off x="4114800" y="5440680"/>
            <a:ext cx="1324051" cy="237744"/>
          </a:xfrm>
          <a:prstGeom prst="rect">
            <a:avLst/>
          </a:prstGeom>
          <a:solidFill>
            <a:srgbClr val="E4DCCE"/>
          </a:solidFill>
          <a:ln w="9525">
            <a:solidFill>
              <a:srgbClr val="0A6B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900">
                <a:solidFill>
                  <a:srgbClr val="0A6B66"/>
                </a:solidFill>
                <a:latin typeface="Segoe UI Semibold"/>
              </a:rPr>
              <a:t>LIVE · REAL DATA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6327648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>
                <a:solidFill>
                  <a:srgbClr val="BFAE9B"/>
                </a:solidFill>
                <a:latin typeface="Consolas"/>
              </a:rPr>
              <a:t>/report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0" y="6327648"/>
            <a:ext cx="235915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>
                <a:solidFill>
                  <a:srgbClr val="BFAE9B"/>
                </a:solidFill>
                <a:latin typeface="Consolas"/>
              </a:rPr>
              <a:t>13 / 38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D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767715" y="1087755"/>
            <a:ext cx="2762250" cy="4682490"/>
          </a:xfrm>
          <a:prstGeom prst="rect">
            <a:avLst/>
          </a:prstGeom>
          <a:noFill/>
          <a:ln w="9525">
            <a:solidFill>
              <a:srgbClr val="BFAE9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14-resident-plac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1097280"/>
            <a:ext cx="2743200" cy="466344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114800" y="118872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>
                <a:solidFill>
                  <a:srgbClr val="925F52"/>
                </a:solidFill>
                <a:latin typeface="Consolas"/>
              </a:rPr>
              <a:t>THE RESIDENT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0" y="1517904"/>
            <a:ext cx="822960" cy="38100"/>
          </a:xfrm>
          <a:prstGeom prst="rect">
            <a:avLst/>
          </a:prstGeom>
          <a:solidFill>
            <a:srgbClr val="0FA9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114800" y="1847088"/>
            <a:ext cx="7315200" cy="11887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2200">
                <a:solidFill>
                  <a:srgbClr val="16130F"/>
                </a:solidFill>
                <a:latin typeface="Segoe UI Semibold"/>
              </a:rPr>
              <a:t>Resident — step 2, where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0" y="2926080"/>
            <a:ext cx="7315200" cy="2286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4000"/>
              </a:lnSpc>
            </a:pPr>
            <a:r>
              <a:rPr sz="1300">
                <a:solidFill>
                  <a:srgbClr val="8A7462"/>
                </a:solidFill>
                <a:latin typeface="Segoe UI"/>
              </a:rPr>
              <a:t>A card, not a picker. The ward resolves against the city's own zone tree — never a third-party geocoder.</a:t>
            </a:r>
          </a:p>
        </p:txBody>
      </p:sp>
      <p:sp>
        <p:nvSpPr>
          <p:cNvPr id="9" name="Rectangle 8"/>
          <p:cNvSpPr/>
          <p:nvPr/>
        </p:nvSpPr>
        <p:spPr>
          <a:xfrm>
            <a:off x="4114800" y="5440680"/>
            <a:ext cx="1324051" cy="237744"/>
          </a:xfrm>
          <a:prstGeom prst="rect">
            <a:avLst/>
          </a:prstGeom>
          <a:solidFill>
            <a:srgbClr val="E4DCCE"/>
          </a:solidFill>
          <a:ln w="9525">
            <a:solidFill>
              <a:srgbClr val="0A6B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900">
                <a:solidFill>
                  <a:srgbClr val="0A6B66"/>
                </a:solidFill>
                <a:latin typeface="Segoe UI Semibold"/>
              </a:rPr>
              <a:t>LIVE · REAL DATA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6327648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>
                <a:solidFill>
                  <a:srgbClr val="BFAE9B"/>
                </a:solidFill>
                <a:latin typeface="Consolas"/>
              </a:rPr>
              <a:t>/report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0" y="6327648"/>
            <a:ext cx="235915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>
                <a:solidFill>
                  <a:srgbClr val="BFAE9B"/>
                </a:solidFill>
                <a:latin typeface="Consolas"/>
              </a:rPr>
              <a:t>14 / 38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D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958051" y="859155"/>
            <a:ext cx="2381577" cy="5139690"/>
          </a:xfrm>
          <a:prstGeom prst="rect">
            <a:avLst/>
          </a:prstGeom>
          <a:noFill/>
          <a:ln w="9525">
            <a:solidFill>
              <a:srgbClr val="BFAE9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15-resident-receip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7576" y="868680"/>
            <a:ext cx="2362527" cy="512064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114800" y="118872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>
                <a:solidFill>
                  <a:srgbClr val="925F52"/>
                </a:solidFill>
                <a:latin typeface="Consolas"/>
              </a:rPr>
              <a:t>THE RESIDENT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0" y="1517904"/>
            <a:ext cx="822960" cy="38100"/>
          </a:xfrm>
          <a:prstGeom prst="rect">
            <a:avLst/>
          </a:prstGeom>
          <a:solidFill>
            <a:srgbClr val="0FA9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114800" y="1847088"/>
            <a:ext cx="7315200" cy="11887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2200">
                <a:solidFill>
                  <a:srgbClr val="16130F"/>
                </a:solidFill>
                <a:latin typeface="Segoe UI Semibold"/>
              </a:rPr>
              <a:t>Resident — step 3, the receipt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0" y="2926080"/>
            <a:ext cx="7315200" cy="2286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4000"/>
              </a:lnSpc>
            </a:pPr>
            <a:r>
              <a:rPr sz="1300">
                <a:solidFill>
                  <a:srgbClr val="8A7462"/>
                </a:solidFill>
                <a:latin typeface="Segoe UI"/>
              </a:rPr>
              <a:t>Filed. The receipt is a document, and its claim is a SHA-256 of the event the log actually wrote.</a:t>
            </a:r>
          </a:p>
        </p:txBody>
      </p:sp>
      <p:sp>
        <p:nvSpPr>
          <p:cNvPr id="9" name="Rectangle 8"/>
          <p:cNvSpPr/>
          <p:nvPr/>
        </p:nvSpPr>
        <p:spPr>
          <a:xfrm>
            <a:off x="4114800" y="5440680"/>
            <a:ext cx="1324051" cy="237744"/>
          </a:xfrm>
          <a:prstGeom prst="rect">
            <a:avLst/>
          </a:prstGeom>
          <a:solidFill>
            <a:srgbClr val="E4DCCE"/>
          </a:solidFill>
          <a:ln w="9525">
            <a:solidFill>
              <a:srgbClr val="0A6B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900">
                <a:solidFill>
                  <a:srgbClr val="0A6B66"/>
                </a:solidFill>
                <a:latin typeface="Segoe UI Semibold"/>
              </a:rPr>
              <a:t>LIVE · REAL DATA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6327648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>
                <a:solidFill>
                  <a:srgbClr val="BFAE9B"/>
                </a:solidFill>
                <a:latin typeface="Consolas"/>
              </a:rPr>
              <a:t>/report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0" y="6327648"/>
            <a:ext cx="235915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>
                <a:solidFill>
                  <a:srgbClr val="BFAE9B"/>
                </a:solidFill>
                <a:latin typeface="Consolas"/>
              </a:rPr>
              <a:t>15 / 38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D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4105275" y="1827962"/>
            <a:ext cx="7379970" cy="3110636"/>
          </a:xfrm>
          <a:prstGeom prst="rect">
            <a:avLst/>
          </a:prstGeom>
          <a:noFill/>
          <a:ln w="9525">
            <a:solidFill>
              <a:srgbClr val="BFAE9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16-resident-trac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0" y="1837487"/>
            <a:ext cx="7360920" cy="3091586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13232" y="1188720"/>
            <a:ext cx="31089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>
                <a:solidFill>
                  <a:srgbClr val="925F52"/>
                </a:solidFill>
                <a:latin typeface="Consolas"/>
              </a:rPr>
              <a:t>THE RESIDENT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1517904"/>
            <a:ext cx="822960" cy="38100"/>
          </a:xfrm>
          <a:prstGeom prst="rect">
            <a:avLst/>
          </a:prstGeom>
          <a:solidFill>
            <a:srgbClr val="0FA9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13232" y="1847088"/>
            <a:ext cx="3108960" cy="11887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2200">
                <a:solidFill>
                  <a:srgbClr val="16130F"/>
                </a:solidFill>
                <a:latin typeface="Segoe UI Semibold"/>
              </a:rPr>
              <a:t>Resident — the evidence trail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" y="2926080"/>
            <a:ext cx="3108960" cy="2286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4000"/>
              </a:lnSpc>
            </a:pPr>
            <a:r>
              <a:rPr sz="1300">
                <a:solidFill>
                  <a:srgbClr val="8A7462"/>
                </a:solidFill>
                <a:latin typeface="Segoe UI"/>
              </a:rPr>
              <a:t>The receipt id is the only way in — nobody can look the report up by name. Each gate it passed is an event, not a status.</a:t>
            </a:r>
          </a:p>
        </p:txBody>
      </p:sp>
      <p:sp>
        <p:nvSpPr>
          <p:cNvPr id="9" name="Rectangle 8"/>
          <p:cNvSpPr/>
          <p:nvPr/>
        </p:nvSpPr>
        <p:spPr>
          <a:xfrm>
            <a:off x="713232" y="5440680"/>
            <a:ext cx="1324051" cy="237744"/>
          </a:xfrm>
          <a:prstGeom prst="rect">
            <a:avLst/>
          </a:prstGeom>
          <a:solidFill>
            <a:srgbClr val="E4DCCE"/>
          </a:solidFill>
          <a:ln w="9525">
            <a:solidFill>
              <a:srgbClr val="0A6B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900">
                <a:solidFill>
                  <a:srgbClr val="0A6B66"/>
                </a:solidFill>
                <a:latin typeface="Segoe UI Semibold"/>
              </a:rPr>
              <a:t>LIVE · REAL DATA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6327648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>
                <a:solidFill>
                  <a:srgbClr val="BFAE9B"/>
                </a:solidFill>
                <a:latin typeface="Consolas"/>
              </a:rPr>
              <a:t>/t/b00ce383-ba80-45d2-b175-460f84b08170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0" y="6327648"/>
            <a:ext cx="235915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>
                <a:solidFill>
                  <a:srgbClr val="BFAE9B"/>
                </a:solidFill>
                <a:latin typeface="Consolas"/>
              </a:rPr>
              <a:t>16 / 38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613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68680" y="1371600"/>
            <a:ext cx="3657600" cy="2011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0000"/>
              </a:lnSpc>
            </a:pPr>
            <a:r>
              <a:rPr sz="12800">
                <a:solidFill>
                  <a:srgbClr val="925F52"/>
                </a:solidFill>
                <a:latin typeface="Segoe UI Black"/>
              </a:rPr>
              <a:t>03</a:t>
            </a:r>
          </a:p>
        </p:txBody>
      </p:sp>
      <p:sp>
        <p:nvSpPr>
          <p:cNvPr id="4" name="Rectangle 3"/>
          <p:cNvSpPr/>
          <p:nvPr/>
        </p:nvSpPr>
        <p:spPr>
          <a:xfrm>
            <a:off x="868680" y="3246120"/>
            <a:ext cx="10424160" cy="12700"/>
          </a:xfrm>
          <a:prstGeom prst="rect">
            <a:avLst/>
          </a:prstGeom>
          <a:solidFill>
            <a:srgbClr val="8A746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68680" y="3611880"/>
            <a:ext cx="960120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4000">
                <a:solidFill>
                  <a:srgbClr val="F4EDE1"/>
                </a:solidFill>
                <a:latin typeface="Segoe UI Semibold"/>
              </a:rPr>
              <a:t>What the city publishes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4617720"/>
            <a:ext cx="8412480" cy="1280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500">
                <a:solidFill>
                  <a:srgbClr val="BFAE9B"/>
                </a:solidFill>
                <a:latin typeface="Segoe UI"/>
              </a:rPr>
              <a:t>The open-data surfaces — wards, money, contractors — and the page that says which of this product's claims are real.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418320" y="4617720"/>
            <a:ext cx="192024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>
                <a:solidFill>
                  <a:srgbClr val="FFB511"/>
                </a:solidFill>
                <a:latin typeface="Consolas"/>
              </a:rPr>
              <a:t>5 SCREENS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D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4105275" y="1496720"/>
            <a:ext cx="7379970" cy="3773119"/>
          </a:xfrm>
          <a:prstGeom prst="rect">
            <a:avLst/>
          </a:prstGeom>
          <a:noFill/>
          <a:ln w="9525">
            <a:solidFill>
              <a:srgbClr val="BFAE9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17-public-city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0" y="1506245"/>
            <a:ext cx="7360920" cy="3754069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13232" y="1188720"/>
            <a:ext cx="31089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>
                <a:solidFill>
                  <a:srgbClr val="925F52"/>
                </a:solidFill>
                <a:latin typeface="Consolas"/>
              </a:rPr>
              <a:t>WHAT THE CITY PUBLISHES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1517904"/>
            <a:ext cx="822960" cy="38100"/>
          </a:xfrm>
          <a:prstGeom prst="rect">
            <a:avLst/>
          </a:prstGeom>
          <a:solidFill>
            <a:srgbClr val="0FA9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13232" y="1847088"/>
            <a:ext cx="3108960" cy="11887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2200">
                <a:solidFill>
                  <a:srgbClr val="16130F"/>
                </a:solidFill>
                <a:latin typeface="Segoe UI Semibold"/>
              </a:rPr>
              <a:t>Public — the city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" y="2926080"/>
            <a:ext cx="3108960" cy="2286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4000"/>
              </a:lnSpc>
            </a:pPr>
            <a:r>
              <a:rPr sz="1300">
                <a:solidFill>
                  <a:srgbClr val="8A7462"/>
                </a:solidFill>
                <a:latin typeface="Segoe UI"/>
              </a:rPr>
              <a:t>The open-data portal: every zone and ward, with what is counted and what is withheld.</a:t>
            </a:r>
          </a:p>
        </p:txBody>
      </p:sp>
      <p:sp>
        <p:nvSpPr>
          <p:cNvPr id="9" name="Rectangle 8"/>
          <p:cNvSpPr/>
          <p:nvPr/>
        </p:nvSpPr>
        <p:spPr>
          <a:xfrm>
            <a:off x="713232" y="5440680"/>
            <a:ext cx="1324051" cy="237744"/>
          </a:xfrm>
          <a:prstGeom prst="rect">
            <a:avLst/>
          </a:prstGeom>
          <a:solidFill>
            <a:srgbClr val="E4DCCE"/>
          </a:solidFill>
          <a:ln w="9525">
            <a:solidFill>
              <a:srgbClr val="0A6B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900">
                <a:solidFill>
                  <a:srgbClr val="0A6B66"/>
                </a:solidFill>
                <a:latin typeface="Segoe UI Semibold"/>
              </a:rPr>
              <a:t>LIVE · REAL DATA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6327648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>
                <a:solidFill>
                  <a:srgbClr val="BFAE9B"/>
                </a:solidFill>
                <a:latin typeface="Consolas"/>
              </a:rPr>
              <a:t>/pune-demo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0" y="6327648"/>
            <a:ext cx="235915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>
                <a:solidFill>
                  <a:srgbClr val="BFAE9B"/>
                </a:solidFill>
                <a:latin typeface="Consolas"/>
              </a:rPr>
              <a:t>17 / 38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D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4105275" y="1079602"/>
            <a:ext cx="7379970" cy="4607356"/>
          </a:xfrm>
          <a:prstGeom prst="rect">
            <a:avLst/>
          </a:prstGeom>
          <a:noFill/>
          <a:ln w="9525">
            <a:solidFill>
              <a:srgbClr val="BFAE9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18-public-ward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0" y="1089127"/>
            <a:ext cx="7360920" cy="4588306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13232" y="1188720"/>
            <a:ext cx="31089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>
                <a:solidFill>
                  <a:srgbClr val="925F52"/>
                </a:solidFill>
                <a:latin typeface="Consolas"/>
              </a:rPr>
              <a:t>WHAT THE CITY PUBLISHES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1517904"/>
            <a:ext cx="822960" cy="38100"/>
          </a:xfrm>
          <a:prstGeom prst="rect">
            <a:avLst/>
          </a:prstGeom>
          <a:solidFill>
            <a:srgbClr val="0FA9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13232" y="1847088"/>
            <a:ext cx="3108960" cy="11887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2200">
                <a:solidFill>
                  <a:srgbClr val="16130F"/>
                </a:solidFill>
                <a:latin typeface="Segoe UI Semibold"/>
              </a:rPr>
              <a:t>Public — one ward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" y="2926080"/>
            <a:ext cx="3108960" cy="2286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4000"/>
              </a:lnSpc>
            </a:pPr>
            <a:r>
              <a:rPr sz="1300">
                <a:solidFill>
                  <a:srgbClr val="8A7462"/>
                </a:solidFill>
                <a:latin typeface="Segoe UI"/>
              </a:rPr>
              <a:t>Kothrud, by category, with the suppression threshold stated rather than implied.</a:t>
            </a:r>
          </a:p>
        </p:txBody>
      </p:sp>
      <p:sp>
        <p:nvSpPr>
          <p:cNvPr id="9" name="Rectangle 8"/>
          <p:cNvSpPr/>
          <p:nvPr/>
        </p:nvSpPr>
        <p:spPr>
          <a:xfrm>
            <a:off x="713232" y="5440680"/>
            <a:ext cx="1324051" cy="237744"/>
          </a:xfrm>
          <a:prstGeom prst="rect">
            <a:avLst/>
          </a:prstGeom>
          <a:solidFill>
            <a:srgbClr val="E4DCCE"/>
          </a:solidFill>
          <a:ln w="9525">
            <a:solidFill>
              <a:srgbClr val="0A6B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900">
                <a:solidFill>
                  <a:srgbClr val="0A6B66"/>
                </a:solidFill>
                <a:latin typeface="Segoe UI Semibold"/>
              </a:rPr>
              <a:t>LIVE · REAL DATA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6327648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>
                <a:solidFill>
                  <a:srgbClr val="BFAE9B"/>
                </a:solidFill>
                <a:latin typeface="Consolas"/>
              </a:rPr>
              <a:t>/pune-demo/ward/W-KOTHRUD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0" y="6327648"/>
            <a:ext cx="235915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>
                <a:solidFill>
                  <a:srgbClr val="BFAE9B"/>
                </a:solidFill>
                <a:latin typeface="Consolas"/>
              </a:rPr>
              <a:t>18 / 38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D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4105275" y="1079602"/>
            <a:ext cx="7379970" cy="4607356"/>
          </a:xfrm>
          <a:prstGeom prst="rect">
            <a:avLst/>
          </a:prstGeom>
          <a:noFill/>
          <a:ln w="9525">
            <a:solidFill>
              <a:srgbClr val="BFAE9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19-public-budge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0" y="1089127"/>
            <a:ext cx="7360920" cy="4588306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13232" y="1188720"/>
            <a:ext cx="31089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>
                <a:solidFill>
                  <a:srgbClr val="925F52"/>
                </a:solidFill>
                <a:latin typeface="Consolas"/>
              </a:rPr>
              <a:t>WHAT THE CITY PUBLISHES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1517904"/>
            <a:ext cx="822960" cy="38100"/>
          </a:xfrm>
          <a:prstGeom prst="rect">
            <a:avLst/>
          </a:prstGeom>
          <a:solidFill>
            <a:srgbClr val="0FA9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13232" y="1847088"/>
            <a:ext cx="3108960" cy="11887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2200">
                <a:solidFill>
                  <a:srgbClr val="16130F"/>
                </a:solidFill>
                <a:latin typeface="Segoe UI Semibold"/>
              </a:rPr>
              <a:t>Public — the money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" y="2926080"/>
            <a:ext cx="3108960" cy="2286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4000"/>
              </a:lnSpc>
            </a:pPr>
            <a:r>
              <a:rPr sz="1300">
                <a:solidFill>
                  <a:srgbClr val="8A7462"/>
                </a:solidFill>
                <a:latin typeface="Segoe UI"/>
              </a:rPr>
              <a:t>Allocated against spent for a zone, in a fiscal year a resident can name.</a:t>
            </a:r>
          </a:p>
        </p:txBody>
      </p:sp>
      <p:sp>
        <p:nvSpPr>
          <p:cNvPr id="9" name="Rectangle 8"/>
          <p:cNvSpPr/>
          <p:nvPr/>
        </p:nvSpPr>
        <p:spPr>
          <a:xfrm>
            <a:off x="713232" y="5440680"/>
            <a:ext cx="1324051" cy="237744"/>
          </a:xfrm>
          <a:prstGeom prst="rect">
            <a:avLst/>
          </a:prstGeom>
          <a:solidFill>
            <a:srgbClr val="E4DCCE"/>
          </a:solidFill>
          <a:ln w="9525">
            <a:solidFill>
              <a:srgbClr val="0A6B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900">
                <a:solidFill>
                  <a:srgbClr val="0A6B66"/>
                </a:solidFill>
                <a:latin typeface="Segoe UI Semibold"/>
              </a:rPr>
              <a:t>LIVE · REAL DATA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6327648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>
                <a:solidFill>
                  <a:srgbClr val="BFAE9B"/>
                </a:solidFill>
                <a:latin typeface="Consolas"/>
              </a:rPr>
              <a:t>/pune-demo/budget/Z-WEST?fiscal_year=2026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0" y="6327648"/>
            <a:ext cx="235915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>
                <a:solidFill>
                  <a:srgbClr val="BFAE9B"/>
                </a:solidFill>
                <a:latin typeface="Consolas"/>
              </a:rPr>
              <a:t>19 / 38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D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4105275" y="1073467"/>
            <a:ext cx="7379970" cy="4619625"/>
          </a:xfrm>
          <a:prstGeom prst="rect">
            <a:avLst/>
          </a:prstGeom>
          <a:noFill/>
          <a:ln w="9525">
            <a:solidFill>
              <a:srgbClr val="BFAE9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20-public-contractor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0" y="1082992"/>
            <a:ext cx="7360920" cy="4600575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13232" y="1188720"/>
            <a:ext cx="31089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>
                <a:solidFill>
                  <a:srgbClr val="925F52"/>
                </a:solidFill>
                <a:latin typeface="Consolas"/>
              </a:rPr>
              <a:t>WHAT THE CITY PUBLISHES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1517904"/>
            <a:ext cx="822960" cy="38100"/>
          </a:xfrm>
          <a:prstGeom prst="rect">
            <a:avLst/>
          </a:prstGeom>
          <a:solidFill>
            <a:srgbClr val="0FA9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13232" y="1847088"/>
            <a:ext cx="3108960" cy="11887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2200">
                <a:solidFill>
                  <a:srgbClr val="16130F"/>
                </a:solidFill>
                <a:latin typeface="Segoe UI Semibold"/>
              </a:rPr>
              <a:t>Public — the contractor ledger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" y="2926080"/>
            <a:ext cx="3108960" cy="2286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4000"/>
              </a:lnSpc>
            </a:pPr>
            <a:r>
              <a:rPr sz="1300">
                <a:solidFill>
                  <a:srgbClr val="8A7462"/>
                </a:solidFill>
                <a:latin typeface="Segoe UI"/>
              </a:rPr>
              <a:t>Four independent metrics, published side by side. There is no overall score, because an average would hide the one that matters.</a:t>
            </a:r>
          </a:p>
        </p:txBody>
      </p:sp>
      <p:sp>
        <p:nvSpPr>
          <p:cNvPr id="9" name="Rectangle 8"/>
          <p:cNvSpPr/>
          <p:nvPr/>
        </p:nvSpPr>
        <p:spPr>
          <a:xfrm>
            <a:off x="713232" y="5440680"/>
            <a:ext cx="1324051" cy="237744"/>
          </a:xfrm>
          <a:prstGeom prst="rect">
            <a:avLst/>
          </a:prstGeom>
          <a:solidFill>
            <a:srgbClr val="E4DCCE"/>
          </a:solidFill>
          <a:ln w="9525">
            <a:solidFill>
              <a:srgbClr val="0A6B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900">
                <a:solidFill>
                  <a:srgbClr val="0A6B66"/>
                </a:solidFill>
                <a:latin typeface="Segoe UI Semibold"/>
              </a:rPr>
              <a:t>LIVE · REAL DATA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6327648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>
                <a:solidFill>
                  <a:srgbClr val="BFAE9B"/>
                </a:solidFill>
                <a:latin typeface="Consolas"/>
              </a:rPr>
              <a:t>/pune-demo/contractor/f5e3e2fb-82de-4b1d-93e5-344f2d82ffe9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0" y="6327648"/>
            <a:ext cx="235915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>
                <a:solidFill>
                  <a:srgbClr val="BFAE9B"/>
                </a:solidFill>
                <a:latin typeface="Consolas"/>
              </a:rPr>
              <a:t>20 / 38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D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4105275" y="1073467"/>
            <a:ext cx="7379970" cy="4619625"/>
          </a:xfrm>
          <a:prstGeom prst="rect">
            <a:avLst/>
          </a:prstGeom>
          <a:noFill/>
          <a:ln w="9525">
            <a:solidFill>
              <a:srgbClr val="BFAE9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21-public-honesty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0" y="1082992"/>
            <a:ext cx="7360920" cy="4600575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13232" y="1188720"/>
            <a:ext cx="31089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>
                <a:solidFill>
                  <a:srgbClr val="925F52"/>
                </a:solidFill>
                <a:latin typeface="Consolas"/>
              </a:rPr>
              <a:t>WHAT THE CITY PUBLISHES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1517904"/>
            <a:ext cx="822960" cy="38100"/>
          </a:xfrm>
          <a:prstGeom prst="rect">
            <a:avLst/>
          </a:prstGeom>
          <a:solidFill>
            <a:srgbClr val="0FA9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13232" y="1847088"/>
            <a:ext cx="3108960" cy="11887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2200">
                <a:solidFill>
                  <a:srgbClr val="16130F"/>
                </a:solidFill>
                <a:latin typeface="Segoe UI Semibold"/>
              </a:rPr>
              <a:t>Public — what is real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" y="2926080"/>
            <a:ext cx="3108960" cy="2286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4000"/>
              </a:lnSpc>
            </a:pPr>
            <a:r>
              <a:rPr sz="1300">
                <a:solidFill>
                  <a:srgbClr val="8A7462"/>
                </a:solidFill>
                <a:latin typeface="Segoe UI"/>
              </a:rPr>
              <a:t>Every claim the product makes about itself, labelled REAL, SIMULATED, ROADMAP, CUT or REFRAMED.</a:t>
            </a:r>
          </a:p>
        </p:txBody>
      </p:sp>
      <p:sp>
        <p:nvSpPr>
          <p:cNvPr id="9" name="Rectangle 8"/>
          <p:cNvSpPr/>
          <p:nvPr/>
        </p:nvSpPr>
        <p:spPr>
          <a:xfrm>
            <a:off x="713232" y="5440680"/>
            <a:ext cx="1324051" cy="237744"/>
          </a:xfrm>
          <a:prstGeom prst="rect">
            <a:avLst/>
          </a:prstGeom>
          <a:solidFill>
            <a:srgbClr val="E4DCCE"/>
          </a:solidFill>
          <a:ln w="9525">
            <a:solidFill>
              <a:srgbClr val="0A6B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900">
                <a:solidFill>
                  <a:srgbClr val="0A6B66"/>
                </a:solidFill>
                <a:latin typeface="Segoe UI Semibold"/>
              </a:rPr>
              <a:t>LIVE · REAL DATA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6327648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>
                <a:solidFill>
                  <a:srgbClr val="BFAE9B"/>
                </a:solidFill>
                <a:latin typeface="Consolas"/>
              </a:rPr>
              <a:t>/pune-demo/honesty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0" y="6327648"/>
            <a:ext cx="235915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>
                <a:solidFill>
                  <a:srgbClr val="BFAE9B"/>
                </a:solidFill>
                <a:latin typeface="Consolas"/>
              </a:rPr>
              <a:t>21 / 38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613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68680" y="1371600"/>
            <a:ext cx="3657600" cy="2011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0000"/>
              </a:lnSpc>
            </a:pPr>
            <a:r>
              <a:rPr sz="12800">
                <a:solidFill>
                  <a:srgbClr val="925F52"/>
                </a:solidFill>
                <a:latin typeface="Segoe UI Black"/>
              </a:rPr>
              <a:t>04</a:t>
            </a:r>
          </a:p>
        </p:txBody>
      </p:sp>
      <p:sp>
        <p:nvSpPr>
          <p:cNvPr id="4" name="Rectangle 3"/>
          <p:cNvSpPr/>
          <p:nvPr/>
        </p:nvSpPr>
        <p:spPr>
          <a:xfrm>
            <a:off x="868680" y="3246120"/>
            <a:ext cx="10424160" cy="12700"/>
          </a:xfrm>
          <a:prstGeom prst="rect">
            <a:avLst/>
          </a:prstGeom>
          <a:solidFill>
            <a:srgbClr val="8A746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68680" y="3611880"/>
            <a:ext cx="960120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4000">
                <a:solidFill>
                  <a:srgbClr val="F4EDE1"/>
                </a:solidFill>
                <a:latin typeface="Segoe UI Semibold"/>
              </a:rPr>
              <a:t>The staff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4617720"/>
            <a:ext cx="8412480" cy="1280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500">
                <a:solidFill>
                  <a:srgbClr val="BFAE9B"/>
                </a:solidFill>
                <a:latin typeface="Segoe UI"/>
              </a:rPr>
              <a:t>The console: what breaches first, the reports the pipeline would not decide alone, and the administrative plane underneath them.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418320" y="4617720"/>
            <a:ext cx="192024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>
                <a:solidFill>
                  <a:srgbClr val="FFB511"/>
                </a:solidFill>
                <a:latin typeface="Consolas"/>
              </a:rPr>
              <a:t>8 SCREENS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D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4105275" y="1073467"/>
            <a:ext cx="7379970" cy="4619625"/>
          </a:xfrm>
          <a:prstGeom prst="rect">
            <a:avLst/>
          </a:prstGeom>
          <a:noFill/>
          <a:ln w="9525">
            <a:solidFill>
              <a:srgbClr val="BFAE9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22-staff-hom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0" y="1082992"/>
            <a:ext cx="7360920" cy="4600575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13232" y="1188720"/>
            <a:ext cx="31089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>
                <a:solidFill>
                  <a:srgbClr val="925F52"/>
                </a:solidFill>
                <a:latin typeface="Consolas"/>
              </a:rPr>
              <a:t>THE STAFF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1517904"/>
            <a:ext cx="822960" cy="38100"/>
          </a:xfrm>
          <a:prstGeom prst="rect">
            <a:avLst/>
          </a:prstGeom>
          <a:solidFill>
            <a:srgbClr val="0FA9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13232" y="1847088"/>
            <a:ext cx="3108960" cy="11887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2200">
                <a:solidFill>
                  <a:srgbClr val="16130F"/>
                </a:solidFill>
                <a:latin typeface="Segoe UI Semibold"/>
              </a:rPr>
              <a:t>Staff — the thirteen surfaces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" y="2926080"/>
            <a:ext cx="3108960" cy="2286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4000"/>
              </a:lnSpc>
            </a:pPr>
            <a:r>
              <a:rPr sz="1300">
                <a:solidFill>
                  <a:srgbClr val="8A7462"/>
                </a:solidFill>
                <a:latin typeface="Segoe UI"/>
              </a:rPr>
              <a:t>The whole operating surface, with the ones that are not wired yet saying so on the tile.</a:t>
            </a:r>
          </a:p>
        </p:txBody>
      </p:sp>
      <p:sp>
        <p:nvSpPr>
          <p:cNvPr id="9" name="Rectangle 8"/>
          <p:cNvSpPr/>
          <p:nvPr/>
        </p:nvSpPr>
        <p:spPr>
          <a:xfrm>
            <a:off x="713232" y="5440680"/>
            <a:ext cx="1324051" cy="237744"/>
          </a:xfrm>
          <a:prstGeom prst="rect">
            <a:avLst/>
          </a:prstGeom>
          <a:solidFill>
            <a:srgbClr val="E4DCCE"/>
          </a:solidFill>
          <a:ln w="9525">
            <a:solidFill>
              <a:srgbClr val="0A6B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900">
                <a:solidFill>
                  <a:srgbClr val="0A6B66"/>
                </a:solidFill>
                <a:latin typeface="Segoe UI Semibold"/>
              </a:rPr>
              <a:t>LIVE · REAL DATA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6327648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>
                <a:solidFill>
                  <a:srgbClr val="BFAE9B"/>
                </a:solidFill>
                <a:latin typeface="Consolas"/>
              </a:rPr>
              <a:t>/staff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0" y="6327648"/>
            <a:ext cx="235915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>
                <a:solidFill>
                  <a:srgbClr val="BFAE9B"/>
                </a:solidFill>
                <a:latin typeface="Consolas"/>
              </a:rPr>
              <a:t>22 / 38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D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4105275" y="1073467"/>
            <a:ext cx="7379970" cy="4619625"/>
          </a:xfrm>
          <a:prstGeom prst="rect">
            <a:avLst/>
          </a:prstGeom>
          <a:noFill/>
          <a:ln w="9525">
            <a:solidFill>
              <a:srgbClr val="BFAE9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23-console-command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0" y="1082992"/>
            <a:ext cx="7360920" cy="4600575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13232" y="1188720"/>
            <a:ext cx="31089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>
                <a:solidFill>
                  <a:srgbClr val="925F52"/>
                </a:solidFill>
                <a:latin typeface="Consolas"/>
              </a:rPr>
              <a:t>THE STAFF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1517904"/>
            <a:ext cx="822960" cy="38100"/>
          </a:xfrm>
          <a:prstGeom prst="rect">
            <a:avLst/>
          </a:prstGeom>
          <a:solidFill>
            <a:srgbClr val="0FA9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13232" y="1847088"/>
            <a:ext cx="3108960" cy="11887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2200">
                <a:solidFill>
                  <a:srgbClr val="16130F"/>
                </a:solidFill>
                <a:latin typeface="Segoe UI Semibold"/>
              </a:rPr>
              <a:t>Console — command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" y="2926080"/>
            <a:ext cx="3108960" cy="2286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4000"/>
              </a:lnSpc>
            </a:pPr>
            <a:r>
              <a:rPr sz="1300">
                <a:solidFill>
                  <a:srgbClr val="8A7462"/>
                </a:solidFill>
                <a:latin typeface="Segoe UI"/>
              </a:rPr>
              <a:t>What breaches first, the city as a clay model, and the queue underneath it.</a:t>
            </a:r>
          </a:p>
        </p:txBody>
      </p:sp>
      <p:sp>
        <p:nvSpPr>
          <p:cNvPr id="9" name="Rectangle 8"/>
          <p:cNvSpPr/>
          <p:nvPr/>
        </p:nvSpPr>
        <p:spPr>
          <a:xfrm>
            <a:off x="713232" y="5440680"/>
            <a:ext cx="1324051" cy="237744"/>
          </a:xfrm>
          <a:prstGeom prst="rect">
            <a:avLst/>
          </a:prstGeom>
          <a:solidFill>
            <a:srgbClr val="E4DCCE"/>
          </a:solidFill>
          <a:ln w="9525">
            <a:solidFill>
              <a:srgbClr val="0A6B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900">
                <a:solidFill>
                  <a:srgbClr val="0A6B66"/>
                </a:solidFill>
                <a:latin typeface="Segoe UI Semibold"/>
              </a:rPr>
              <a:t>LIVE · REAL DATA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6327648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>
                <a:solidFill>
                  <a:srgbClr val="BFAE9B"/>
                </a:solidFill>
                <a:latin typeface="Consolas"/>
              </a:rPr>
              <a:t>/console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0" y="6327648"/>
            <a:ext cx="235915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>
                <a:solidFill>
                  <a:srgbClr val="BFAE9B"/>
                </a:solidFill>
                <a:latin typeface="Consolas"/>
              </a:rPr>
              <a:t>23 / 38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D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4105275" y="1331100"/>
            <a:ext cx="7379970" cy="4104360"/>
          </a:xfrm>
          <a:prstGeom prst="rect">
            <a:avLst/>
          </a:prstGeom>
          <a:noFill/>
          <a:ln w="9525">
            <a:solidFill>
              <a:srgbClr val="BFAE9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24-console-review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0" y="1340625"/>
            <a:ext cx="7360920" cy="408531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13232" y="1188720"/>
            <a:ext cx="31089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>
                <a:solidFill>
                  <a:srgbClr val="925F52"/>
                </a:solidFill>
                <a:latin typeface="Consolas"/>
              </a:rPr>
              <a:t>THE STAFF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1517904"/>
            <a:ext cx="822960" cy="38100"/>
          </a:xfrm>
          <a:prstGeom prst="rect">
            <a:avLst/>
          </a:prstGeom>
          <a:solidFill>
            <a:srgbClr val="0FA9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13232" y="1847088"/>
            <a:ext cx="3108960" cy="11887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2200">
                <a:solidFill>
                  <a:srgbClr val="16130F"/>
                </a:solidFill>
                <a:latin typeface="Segoe UI Semibold"/>
              </a:rPr>
              <a:t>Console — the review queue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" y="2926080"/>
            <a:ext cx="3108960" cy="2286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4000"/>
              </a:lnSpc>
            </a:pPr>
            <a:r>
              <a:rPr sz="1300">
                <a:solidFill>
                  <a:srgbClr val="8A7462"/>
                </a:solidFill>
                <a:latin typeface="Segoe UI"/>
              </a:rPr>
              <a:t>The reports the pipeline would not decide alone, ordered by priority then oldest first.</a:t>
            </a:r>
          </a:p>
        </p:txBody>
      </p:sp>
      <p:sp>
        <p:nvSpPr>
          <p:cNvPr id="9" name="Rectangle 8"/>
          <p:cNvSpPr/>
          <p:nvPr/>
        </p:nvSpPr>
        <p:spPr>
          <a:xfrm>
            <a:off x="713232" y="5440680"/>
            <a:ext cx="1324051" cy="237744"/>
          </a:xfrm>
          <a:prstGeom prst="rect">
            <a:avLst/>
          </a:prstGeom>
          <a:solidFill>
            <a:srgbClr val="E4DCCE"/>
          </a:solidFill>
          <a:ln w="9525">
            <a:solidFill>
              <a:srgbClr val="0A6B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900">
                <a:solidFill>
                  <a:srgbClr val="0A6B66"/>
                </a:solidFill>
                <a:latin typeface="Segoe UI Semibold"/>
              </a:rPr>
              <a:t>LIVE · REAL DATA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6327648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>
                <a:solidFill>
                  <a:srgbClr val="BFAE9B"/>
                </a:solidFill>
                <a:latin typeface="Consolas"/>
              </a:rPr>
              <a:t>/console/review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0" y="6327648"/>
            <a:ext cx="235915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>
                <a:solidFill>
                  <a:srgbClr val="BFAE9B"/>
                </a:solidFill>
                <a:latin typeface="Consolas"/>
              </a:rPr>
              <a:t>24 / 38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D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4105275" y="1331100"/>
            <a:ext cx="7379970" cy="4104360"/>
          </a:xfrm>
          <a:prstGeom prst="rect">
            <a:avLst/>
          </a:prstGeom>
          <a:noFill/>
          <a:ln w="9525">
            <a:solidFill>
              <a:srgbClr val="BFAE9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24-console-review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0" y="1340625"/>
            <a:ext cx="7360920" cy="408531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13232" y="1188720"/>
            <a:ext cx="31089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>
                <a:solidFill>
                  <a:srgbClr val="925F52"/>
                </a:solidFill>
                <a:latin typeface="Consolas"/>
              </a:rPr>
              <a:t>THE STAFF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1517904"/>
            <a:ext cx="822960" cy="38100"/>
          </a:xfrm>
          <a:prstGeom prst="rect">
            <a:avLst/>
          </a:prstGeom>
          <a:solidFill>
            <a:srgbClr val="0FA9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13232" y="1847088"/>
            <a:ext cx="3108960" cy="11887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2200">
                <a:solidFill>
                  <a:srgbClr val="16130F"/>
                </a:solidFill>
                <a:latin typeface="Segoe UI Semibold"/>
              </a:rPr>
              <a:t>Console — one decision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" y="2926080"/>
            <a:ext cx="3108960" cy="2286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4000"/>
              </a:lnSpc>
            </a:pPr>
            <a:r>
              <a:rPr sz="1300">
                <a:solidFill>
                  <a:srgbClr val="8A7462"/>
                </a:solidFill>
                <a:latin typeface="Segoe UI"/>
              </a:rPr>
              <a:t>Why the gate stopped, the redacted photograph, the evidence, and the decisions a reviewer may take.</a:t>
            </a:r>
          </a:p>
        </p:txBody>
      </p:sp>
      <p:sp>
        <p:nvSpPr>
          <p:cNvPr id="9" name="Rectangle 8"/>
          <p:cNvSpPr/>
          <p:nvPr/>
        </p:nvSpPr>
        <p:spPr>
          <a:xfrm>
            <a:off x="713232" y="5440680"/>
            <a:ext cx="1324051" cy="237744"/>
          </a:xfrm>
          <a:prstGeom prst="rect">
            <a:avLst/>
          </a:prstGeom>
          <a:solidFill>
            <a:srgbClr val="E4DCCE"/>
          </a:solidFill>
          <a:ln w="9525">
            <a:solidFill>
              <a:srgbClr val="0A6B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900">
                <a:solidFill>
                  <a:srgbClr val="0A6B66"/>
                </a:solidFill>
                <a:latin typeface="Segoe UI Semibold"/>
              </a:rPr>
              <a:t>LIVE · REAL DATA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6327648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>
                <a:solidFill>
                  <a:srgbClr val="BFAE9B"/>
                </a:solidFill>
                <a:latin typeface="Consolas"/>
              </a:rPr>
              <a:t>/console/review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0" y="6327648"/>
            <a:ext cx="235915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>
                <a:solidFill>
                  <a:srgbClr val="BFAE9B"/>
                </a:solidFill>
                <a:latin typeface="Consolas"/>
              </a:rPr>
              <a:t>25 / 38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D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4105275" y="1073467"/>
            <a:ext cx="7379970" cy="4619625"/>
          </a:xfrm>
          <a:prstGeom prst="rect">
            <a:avLst/>
          </a:prstGeom>
          <a:noFill/>
          <a:ln w="9525">
            <a:solidFill>
              <a:srgbClr val="BFAE9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26-console-palett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0" y="1082992"/>
            <a:ext cx="7360920" cy="4600575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13232" y="1188720"/>
            <a:ext cx="31089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>
                <a:solidFill>
                  <a:srgbClr val="925F52"/>
                </a:solidFill>
                <a:latin typeface="Consolas"/>
              </a:rPr>
              <a:t>THE STAFF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1517904"/>
            <a:ext cx="822960" cy="38100"/>
          </a:xfrm>
          <a:prstGeom prst="rect">
            <a:avLst/>
          </a:prstGeom>
          <a:solidFill>
            <a:srgbClr val="0FA9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13232" y="1847088"/>
            <a:ext cx="3108960" cy="11887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2200">
                <a:solidFill>
                  <a:srgbClr val="16130F"/>
                </a:solidFill>
                <a:latin typeface="Segoe UI Semibold"/>
              </a:rPr>
              <a:t>Console — the command palette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" y="2926080"/>
            <a:ext cx="3108960" cy="2286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4000"/>
              </a:lnSpc>
            </a:pPr>
            <a:r>
              <a:rPr sz="1300">
                <a:solidFill>
                  <a:srgbClr val="8A7462"/>
                </a:solidFill>
                <a:latin typeface="Segoe UI"/>
              </a:rPr>
              <a:t>Every screen one keystroke away. The console is a keyboard surface first.</a:t>
            </a:r>
          </a:p>
        </p:txBody>
      </p:sp>
      <p:sp>
        <p:nvSpPr>
          <p:cNvPr id="9" name="Rectangle 8"/>
          <p:cNvSpPr/>
          <p:nvPr/>
        </p:nvSpPr>
        <p:spPr>
          <a:xfrm>
            <a:off x="713232" y="5440680"/>
            <a:ext cx="1324051" cy="237744"/>
          </a:xfrm>
          <a:prstGeom prst="rect">
            <a:avLst/>
          </a:prstGeom>
          <a:solidFill>
            <a:srgbClr val="E4DCCE"/>
          </a:solidFill>
          <a:ln w="9525">
            <a:solidFill>
              <a:srgbClr val="0A6B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900">
                <a:solidFill>
                  <a:srgbClr val="0A6B66"/>
                </a:solidFill>
                <a:latin typeface="Segoe UI Semibold"/>
              </a:rPr>
              <a:t>LIVE · REAL DATA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6327648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>
                <a:solidFill>
                  <a:srgbClr val="BFAE9B"/>
                </a:solidFill>
                <a:latin typeface="Consolas"/>
              </a:rPr>
              <a:t>/console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0" y="6327648"/>
            <a:ext cx="235915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>
                <a:solidFill>
                  <a:srgbClr val="BFAE9B"/>
                </a:solidFill>
                <a:latin typeface="Consolas"/>
              </a:rPr>
              <a:t>26 / 38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D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4105275" y="1073467"/>
            <a:ext cx="7379970" cy="4619625"/>
          </a:xfrm>
          <a:prstGeom prst="rect">
            <a:avLst/>
          </a:prstGeom>
          <a:noFill/>
          <a:ln w="9525">
            <a:solidFill>
              <a:srgbClr val="BFAE9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27-console-policy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0" y="1082992"/>
            <a:ext cx="7360920" cy="4600575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13232" y="1188720"/>
            <a:ext cx="31089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>
                <a:solidFill>
                  <a:srgbClr val="925F52"/>
                </a:solidFill>
                <a:latin typeface="Consolas"/>
              </a:rPr>
              <a:t>THE STAFF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1517904"/>
            <a:ext cx="822960" cy="38100"/>
          </a:xfrm>
          <a:prstGeom prst="rect">
            <a:avLst/>
          </a:prstGeom>
          <a:solidFill>
            <a:srgbClr val="0FA9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13232" y="1847088"/>
            <a:ext cx="3108960" cy="11887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2200">
                <a:solidFill>
                  <a:srgbClr val="16130F"/>
                </a:solidFill>
                <a:latin typeface="Segoe UI Semibold"/>
              </a:rPr>
              <a:t>Console — the policy studio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" y="2926080"/>
            <a:ext cx="3108960" cy="2286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4000"/>
              </a:lnSpc>
            </a:pPr>
            <a:r>
              <a:rPr sz="1300">
                <a:solidFill>
                  <a:srgbClr val="8A7462"/>
                </a:solidFill>
                <a:latin typeface="Segoe UI"/>
              </a:rPr>
              <a:t>Rules as documents, with a backtest before they bite.</a:t>
            </a:r>
          </a:p>
        </p:txBody>
      </p:sp>
      <p:sp>
        <p:nvSpPr>
          <p:cNvPr id="9" name="Rectangle 8"/>
          <p:cNvSpPr/>
          <p:nvPr/>
        </p:nvSpPr>
        <p:spPr>
          <a:xfrm>
            <a:off x="713232" y="5440680"/>
            <a:ext cx="1324051" cy="237744"/>
          </a:xfrm>
          <a:prstGeom prst="rect">
            <a:avLst/>
          </a:prstGeom>
          <a:solidFill>
            <a:srgbClr val="E4DCCE"/>
          </a:solidFill>
          <a:ln w="9525">
            <a:solidFill>
              <a:srgbClr val="0A6B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900">
                <a:solidFill>
                  <a:srgbClr val="0A6B66"/>
                </a:solidFill>
                <a:latin typeface="Segoe UI Semibold"/>
              </a:rPr>
              <a:t>LIVE · REAL DATA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6327648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>
                <a:solidFill>
                  <a:srgbClr val="BFAE9B"/>
                </a:solidFill>
                <a:latin typeface="Consolas"/>
              </a:rPr>
              <a:t>/console/policy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0" y="6327648"/>
            <a:ext cx="235915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>
                <a:solidFill>
                  <a:srgbClr val="BFAE9B"/>
                </a:solidFill>
                <a:latin typeface="Consolas"/>
              </a:rPr>
              <a:t>27 / 38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D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4105275" y="1073467"/>
            <a:ext cx="7379970" cy="4619625"/>
          </a:xfrm>
          <a:prstGeom prst="rect">
            <a:avLst/>
          </a:prstGeom>
          <a:noFill/>
          <a:ln w="9525">
            <a:solidFill>
              <a:srgbClr val="BFAE9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28-console-contro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0" y="1082992"/>
            <a:ext cx="7360920" cy="4600575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13232" y="1188720"/>
            <a:ext cx="31089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>
                <a:solidFill>
                  <a:srgbClr val="925F52"/>
                </a:solidFill>
                <a:latin typeface="Consolas"/>
              </a:rPr>
              <a:t>THE STAFF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1517904"/>
            <a:ext cx="822960" cy="38100"/>
          </a:xfrm>
          <a:prstGeom prst="rect">
            <a:avLst/>
          </a:prstGeom>
          <a:solidFill>
            <a:srgbClr val="0FA9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13232" y="1847088"/>
            <a:ext cx="3108960" cy="11887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2200">
                <a:solidFill>
                  <a:srgbClr val="16130F"/>
                </a:solidFill>
                <a:latin typeface="Segoe UI Semibold"/>
              </a:rPr>
              <a:t>Console — the control plane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" y="2926080"/>
            <a:ext cx="3108960" cy="2286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4000"/>
              </a:lnSpc>
            </a:pPr>
            <a:r>
              <a:rPr sz="1300">
                <a:solidFill>
                  <a:srgbClr val="8A7462"/>
                </a:solidFill>
                <a:latin typeface="Segoe UI"/>
              </a:rPr>
              <a:t>Taxonomy, zones, departments, calendars, locales and tenants.</a:t>
            </a:r>
          </a:p>
        </p:txBody>
      </p:sp>
      <p:sp>
        <p:nvSpPr>
          <p:cNvPr id="9" name="Rectangle 8"/>
          <p:cNvSpPr/>
          <p:nvPr/>
        </p:nvSpPr>
        <p:spPr>
          <a:xfrm>
            <a:off x="713232" y="5440680"/>
            <a:ext cx="1324051" cy="237744"/>
          </a:xfrm>
          <a:prstGeom prst="rect">
            <a:avLst/>
          </a:prstGeom>
          <a:solidFill>
            <a:srgbClr val="E4DCCE"/>
          </a:solidFill>
          <a:ln w="9525">
            <a:solidFill>
              <a:srgbClr val="0A6B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900">
                <a:solidFill>
                  <a:srgbClr val="0A6B66"/>
                </a:solidFill>
                <a:latin typeface="Segoe UI Semibold"/>
              </a:rPr>
              <a:t>LIVE · REAL DATA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6327648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>
                <a:solidFill>
                  <a:srgbClr val="BFAE9B"/>
                </a:solidFill>
                <a:latin typeface="Consolas"/>
              </a:rPr>
              <a:t>/console/control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0" y="6327648"/>
            <a:ext cx="235915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>
                <a:solidFill>
                  <a:srgbClr val="BFAE9B"/>
                </a:solidFill>
                <a:latin typeface="Consolas"/>
              </a:rPr>
              <a:t>28 / 38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D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4105275" y="1827962"/>
            <a:ext cx="7379970" cy="3110636"/>
          </a:xfrm>
          <a:prstGeom prst="rect">
            <a:avLst/>
          </a:prstGeom>
          <a:noFill/>
          <a:ln w="9525">
            <a:solidFill>
              <a:srgbClr val="BFAE9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29-console-developers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0" y="1837487"/>
            <a:ext cx="7360920" cy="3091586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13232" y="1188720"/>
            <a:ext cx="31089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>
                <a:solidFill>
                  <a:srgbClr val="925F52"/>
                </a:solidFill>
                <a:latin typeface="Consolas"/>
              </a:rPr>
              <a:t>THE STAFF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1517904"/>
            <a:ext cx="822960" cy="38100"/>
          </a:xfrm>
          <a:prstGeom prst="rect">
            <a:avLst/>
          </a:prstGeom>
          <a:solidFill>
            <a:srgbClr val="0FA9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13232" y="1847088"/>
            <a:ext cx="3108960" cy="11887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2200">
                <a:solidFill>
                  <a:srgbClr val="16130F"/>
                </a:solidFill>
                <a:latin typeface="Segoe UI Semibold"/>
              </a:rPr>
              <a:t>Console — the developer portal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" y="2926080"/>
            <a:ext cx="3108960" cy="2286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4000"/>
              </a:lnSpc>
            </a:pPr>
            <a:r>
              <a:rPr sz="1300">
                <a:solidFill>
                  <a:srgbClr val="8A7462"/>
                </a:solidFill>
                <a:latin typeface="Segoe UI"/>
              </a:rPr>
              <a:t>Keys, webhooks, usage and the version clock.</a:t>
            </a:r>
          </a:p>
        </p:txBody>
      </p:sp>
      <p:sp>
        <p:nvSpPr>
          <p:cNvPr id="9" name="Rectangle 8"/>
          <p:cNvSpPr/>
          <p:nvPr/>
        </p:nvSpPr>
        <p:spPr>
          <a:xfrm>
            <a:off x="713232" y="5440680"/>
            <a:ext cx="1324051" cy="237744"/>
          </a:xfrm>
          <a:prstGeom prst="rect">
            <a:avLst/>
          </a:prstGeom>
          <a:solidFill>
            <a:srgbClr val="E4DCCE"/>
          </a:solidFill>
          <a:ln w="9525">
            <a:solidFill>
              <a:srgbClr val="0A6B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900">
                <a:solidFill>
                  <a:srgbClr val="0A6B66"/>
                </a:solidFill>
                <a:latin typeface="Segoe UI Semibold"/>
              </a:rPr>
              <a:t>LIVE · REAL DATA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6327648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>
                <a:solidFill>
                  <a:srgbClr val="BFAE9B"/>
                </a:solidFill>
                <a:latin typeface="Consolas"/>
              </a:rPr>
              <a:t>/console/developers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0" y="6327648"/>
            <a:ext cx="235915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>
                <a:solidFill>
                  <a:srgbClr val="BFAE9B"/>
                </a:solidFill>
                <a:latin typeface="Consolas"/>
              </a:rPr>
              <a:t>29 / 38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613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68680" y="1371600"/>
            <a:ext cx="3657600" cy="2011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0000"/>
              </a:lnSpc>
            </a:pPr>
            <a:r>
              <a:rPr sz="12800">
                <a:solidFill>
                  <a:srgbClr val="925F52"/>
                </a:solidFill>
                <a:latin typeface="Segoe UI Black"/>
              </a:rPr>
              <a:t>05</a:t>
            </a:r>
          </a:p>
        </p:txBody>
      </p:sp>
      <p:sp>
        <p:nvSpPr>
          <p:cNvPr id="4" name="Rectangle 3"/>
          <p:cNvSpPr/>
          <p:nvPr/>
        </p:nvSpPr>
        <p:spPr>
          <a:xfrm>
            <a:off x="868680" y="3246120"/>
            <a:ext cx="10424160" cy="12700"/>
          </a:xfrm>
          <a:prstGeom prst="rect">
            <a:avLst/>
          </a:prstGeom>
          <a:solidFill>
            <a:srgbClr val="8A746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68680" y="3611880"/>
            <a:ext cx="960120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4000">
                <a:solidFill>
                  <a:srgbClr val="F4EDE1"/>
                </a:solidFill>
                <a:latin typeface="Segoe UI Semibold"/>
              </a:rPr>
              <a:t>What is not wired yet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4617720"/>
            <a:ext cx="8412480" cy="1280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500">
                <a:solidFill>
                  <a:srgbClr val="BFAE9B"/>
                </a:solidFill>
                <a:latin typeface="Segoe UI"/>
              </a:rPr>
              <a:t>Seven screens whose contracts still return nulls. A production build routes every one of them to a 404 — they are designed, and they say so.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418320" y="4617720"/>
            <a:ext cx="192024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>
                <a:solidFill>
                  <a:srgbClr val="FFB511"/>
                </a:solidFill>
                <a:latin typeface="Consolas"/>
              </a:rPr>
              <a:t>7 SCREENS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D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4105275" y="1073467"/>
            <a:ext cx="7379970" cy="4619625"/>
          </a:xfrm>
          <a:prstGeom prst="rect">
            <a:avLst/>
          </a:prstGeom>
          <a:noFill/>
          <a:ln w="9525">
            <a:solidFill>
              <a:srgbClr val="BFAE9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30-console-area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0" y="1082992"/>
            <a:ext cx="7360920" cy="4600575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13232" y="1188720"/>
            <a:ext cx="31089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>
                <a:solidFill>
                  <a:srgbClr val="925F52"/>
                </a:solidFill>
                <a:latin typeface="Consolas"/>
              </a:rPr>
              <a:t>WHAT IS NOT WIRED YET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1517904"/>
            <a:ext cx="822960" cy="38100"/>
          </a:xfrm>
          <a:prstGeom prst="rect">
            <a:avLst/>
          </a:prstGeom>
          <a:solidFill>
            <a:srgbClr val="FFB5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13232" y="1847088"/>
            <a:ext cx="3108960" cy="11887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2200">
                <a:solidFill>
                  <a:srgbClr val="16130F"/>
                </a:solidFill>
                <a:latin typeface="Segoe UI Semibold"/>
              </a:rPr>
              <a:t>Console — area view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" y="2926080"/>
            <a:ext cx="3108960" cy="2286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4000"/>
              </a:lnSpc>
            </a:pPr>
            <a:r>
              <a:rPr sz="1300">
                <a:solidFill>
                  <a:srgbClr val="8A7462"/>
                </a:solidFill>
                <a:latin typeface="Segoe UI"/>
              </a:rPr>
              <a:t>One ward over time, including what it is not telling us.</a:t>
            </a:r>
          </a:p>
        </p:txBody>
      </p:sp>
      <p:sp>
        <p:nvSpPr>
          <p:cNvPr id="9" name="Rectangle 8"/>
          <p:cNvSpPr/>
          <p:nvPr/>
        </p:nvSpPr>
        <p:spPr>
          <a:xfrm>
            <a:off x="713232" y="5440680"/>
            <a:ext cx="1457553" cy="237744"/>
          </a:xfrm>
          <a:prstGeom prst="rect">
            <a:avLst/>
          </a:prstGeom>
          <a:solidFill>
            <a:srgbClr val="EADCC7"/>
          </a:solidFill>
          <a:ln w="9525">
            <a:solidFill>
              <a:srgbClr val="8A4E1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900">
                <a:solidFill>
                  <a:srgbClr val="8A4E12"/>
                </a:solidFill>
                <a:latin typeface="Segoe UI Semibold"/>
              </a:rPr>
              <a:t>ROADMAP · DEV ONLY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6327648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>
                <a:solidFill>
                  <a:srgbClr val="BFAE9B"/>
                </a:solidFill>
                <a:latin typeface="Consolas"/>
              </a:rPr>
              <a:t>/console/area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0" y="6327648"/>
            <a:ext cx="235915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>
                <a:solidFill>
                  <a:srgbClr val="BFAE9B"/>
                </a:solidFill>
                <a:latin typeface="Consolas"/>
              </a:rPr>
              <a:t>30 / 38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D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4105275" y="1073467"/>
            <a:ext cx="7379970" cy="4619625"/>
          </a:xfrm>
          <a:prstGeom prst="rect">
            <a:avLst/>
          </a:prstGeom>
          <a:noFill/>
          <a:ln w="9525">
            <a:solidFill>
              <a:srgbClr val="BFAE9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31-console-wor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0" y="1082992"/>
            <a:ext cx="7360920" cy="4600575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13232" y="1188720"/>
            <a:ext cx="31089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>
                <a:solidFill>
                  <a:srgbClr val="925F52"/>
                </a:solidFill>
                <a:latin typeface="Consolas"/>
              </a:rPr>
              <a:t>WHAT IS NOT WIRED YET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1517904"/>
            <a:ext cx="822960" cy="38100"/>
          </a:xfrm>
          <a:prstGeom prst="rect">
            <a:avLst/>
          </a:prstGeom>
          <a:solidFill>
            <a:srgbClr val="FFB5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13232" y="1847088"/>
            <a:ext cx="3108960" cy="11887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2200">
                <a:solidFill>
                  <a:srgbClr val="16130F"/>
                </a:solidFill>
                <a:latin typeface="Segoe UI Semibold"/>
              </a:rPr>
              <a:t>Console — work orders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" y="2926080"/>
            <a:ext cx="3108960" cy="2286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4000"/>
              </a:lnSpc>
            </a:pPr>
            <a:r>
              <a:rPr sz="1300">
                <a:solidFill>
                  <a:srgbClr val="8A7462"/>
                </a:solidFill>
                <a:latin typeface="Segoe UI"/>
              </a:rPr>
              <a:t>Assignment, the contractor picker and the rate card.</a:t>
            </a:r>
          </a:p>
        </p:txBody>
      </p:sp>
      <p:sp>
        <p:nvSpPr>
          <p:cNvPr id="9" name="Rectangle 8"/>
          <p:cNvSpPr/>
          <p:nvPr/>
        </p:nvSpPr>
        <p:spPr>
          <a:xfrm>
            <a:off x="713232" y="5440680"/>
            <a:ext cx="1457553" cy="237744"/>
          </a:xfrm>
          <a:prstGeom prst="rect">
            <a:avLst/>
          </a:prstGeom>
          <a:solidFill>
            <a:srgbClr val="EADCC7"/>
          </a:solidFill>
          <a:ln w="9525">
            <a:solidFill>
              <a:srgbClr val="8A4E1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900">
                <a:solidFill>
                  <a:srgbClr val="8A4E12"/>
                </a:solidFill>
                <a:latin typeface="Segoe UI Semibold"/>
              </a:rPr>
              <a:t>ROADMAP · DEV ONLY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6327648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>
                <a:solidFill>
                  <a:srgbClr val="BFAE9B"/>
                </a:solidFill>
                <a:latin typeface="Consolas"/>
              </a:rPr>
              <a:t>/console/work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0" y="6327648"/>
            <a:ext cx="235915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>
                <a:solidFill>
                  <a:srgbClr val="BFAE9B"/>
                </a:solidFill>
                <a:latin typeface="Consolas"/>
              </a:rPr>
              <a:t>31 / 38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D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4105275" y="1073467"/>
            <a:ext cx="7379970" cy="4619625"/>
          </a:xfrm>
          <a:prstGeom prst="rect">
            <a:avLst/>
          </a:prstGeom>
          <a:noFill/>
          <a:ln w="9525">
            <a:solidFill>
              <a:srgbClr val="BFAE9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32-console-closur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0" y="1082992"/>
            <a:ext cx="7360920" cy="4600575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13232" y="1188720"/>
            <a:ext cx="31089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>
                <a:solidFill>
                  <a:srgbClr val="925F52"/>
                </a:solidFill>
                <a:latin typeface="Consolas"/>
              </a:rPr>
              <a:t>WHAT IS NOT WIRED YET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1517904"/>
            <a:ext cx="822960" cy="38100"/>
          </a:xfrm>
          <a:prstGeom prst="rect">
            <a:avLst/>
          </a:prstGeom>
          <a:solidFill>
            <a:srgbClr val="FFB5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13232" y="1847088"/>
            <a:ext cx="3108960" cy="11887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2200">
                <a:solidFill>
                  <a:srgbClr val="16130F"/>
                </a:solidFill>
                <a:latin typeface="Segoe UI Semibold"/>
              </a:rPr>
              <a:t>Console — closure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" y="2926080"/>
            <a:ext cx="3108960" cy="2286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4000"/>
              </a:lnSpc>
            </a:pPr>
            <a:r>
              <a:rPr sz="1300">
                <a:solidFill>
                  <a:srgbClr val="8A7462"/>
                </a:solidFill>
                <a:latin typeface="Segoe UI"/>
              </a:rPr>
              <a:t>Evidence or nothing. The conditions for closing a job are shown before they are hit.</a:t>
            </a:r>
          </a:p>
        </p:txBody>
      </p:sp>
      <p:sp>
        <p:nvSpPr>
          <p:cNvPr id="9" name="Rectangle 8"/>
          <p:cNvSpPr/>
          <p:nvPr/>
        </p:nvSpPr>
        <p:spPr>
          <a:xfrm>
            <a:off x="713232" y="5440680"/>
            <a:ext cx="1457553" cy="237744"/>
          </a:xfrm>
          <a:prstGeom prst="rect">
            <a:avLst/>
          </a:prstGeom>
          <a:solidFill>
            <a:srgbClr val="EADCC7"/>
          </a:solidFill>
          <a:ln w="9525">
            <a:solidFill>
              <a:srgbClr val="8A4E1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900">
                <a:solidFill>
                  <a:srgbClr val="8A4E12"/>
                </a:solidFill>
                <a:latin typeface="Segoe UI Semibold"/>
              </a:rPr>
              <a:t>ROADMAP · DEV ONLY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6327648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>
                <a:solidFill>
                  <a:srgbClr val="BFAE9B"/>
                </a:solidFill>
                <a:latin typeface="Consolas"/>
              </a:rPr>
              <a:t>/console/closure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0" y="6327648"/>
            <a:ext cx="235915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>
                <a:solidFill>
                  <a:srgbClr val="BFAE9B"/>
                </a:solidFill>
                <a:latin typeface="Consolas"/>
              </a:rPr>
              <a:t>32 / 38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D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4105275" y="1073467"/>
            <a:ext cx="7379970" cy="4619625"/>
          </a:xfrm>
          <a:prstGeom prst="rect">
            <a:avLst/>
          </a:prstGeom>
          <a:noFill/>
          <a:ln w="9525">
            <a:solidFill>
              <a:srgbClr val="BFAE9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33-console-money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0" y="1082992"/>
            <a:ext cx="7360920" cy="4600575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13232" y="1188720"/>
            <a:ext cx="31089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>
                <a:solidFill>
                  <a:srgbClr val="925F52"/>
                </a:solidFill>
                <a:latin typeface="Consolas"/>
              </a:rPr>
              <a:t>WHAT IS NOT WIRED YET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1517904"/>
            <a:ext cx="822960" cy="38100"/>
          </a:xfrm>
          <a:prstGeom prst="rect">
            <a:avLst/>
          </a:prstGeom>
          <a:solidFill>
            <a:srgbClr val="FFB5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13232" y="1847088"/>
            <a:ext cx="3108960" cy="11887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2200">
                <a:solidFill>
                  <a:srgbClr val="16130F"/>
                </a:solidFill>
                <a:latin typeface="Segoe UI Semibold"/>
              </a:rPr>
              <a:t>Console — money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" y="2926080"/>
            <a:ext cx="3108960" cy="2286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4000"/>
              </a:lnSpc>
            </a:pPr>
            <a:r>
              <a:rPr sz="1300">
                <a:solidFill>
                  <a:srgbClr val="8A7462"/>
                </a:solidFill>
                <a:latin typeface="Segoe UI"/>
              </a:rPr>
              <a:t>Allocated against spent, and what a citizen sees of it.</a:t>
            </a:r>
          </a:p>
        </p:txBody>
      </p:sp>
      <p:sp>
        <p:nvSpPr>
          <p:cNvPr id="9" name="Rectangle 8"/>
          <p:cNvSpPr/>
          <p:nvPr/>
        </p:nvSpPr>
        <p:spPr>
          <a:xfrm>
            <a:off x="713232" y="5440680"/>
            <a:ext cx="1457553" cy="237744"/>
          </a:xfrm>
          <a:prstGeom prst="rect">
            <a:avLst/>
          </a:prstGeom>
          <a:solidFill>
            <a:srgbClr val="EADCC7"/>
          </a:solidFill>
          <a:ln w="9525">
            <a:solidFill>
              <a:srgbClr val="8A4E1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900">
                <a:solidFill>
                  <a:srgbClr val="8A4E12"/>
                </a:solidFill>
                <a:latin typeface="Segoe UI Semibold"/>
              </a:rPr>
              <a:t>ROADMAP · DEV ONLY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6327648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>
                <a:solidFill>
                  <a:srgbClr val="BFAE9B"/>
                </a:solidFill>
                <a:latin typeface="Consolas"/>
              </a:rPr>
              <a:t>/console/money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0" y="6327648"/>
            <a:ext cx="235915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>
                <a:solidFill>
                  <a:srgbClr val="BFAE9B"/>
                </a:solidFill>
                <a:latin typeface="Consolas"/>
              </a:rPr>
              <a:t>33 / 38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D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4105275" y="1073467"/>
            <a:ext cx="7379970" cy="4619625"/>
          </a:xfrm>
          <a:prstGeom prst="rect">
            <a:avLst/>
          </a:prstGeom>
          <a:noFill/>
          <a:ln w="9525">
            <a:solidFill>
              <a:srgbClr val="BFAE9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34-console-integrity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0" y="1082992"/>
            <a:ext cx="7360920" cy="4600575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13232" y="1188720"/>
            <a:ext cx="31089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>
                <a:solidFill>
                  <a:srgbClr val="925F52"/>
                </a:solidFill>
                <a:latin typeface="Consolas"/>
              </a:rPr>
              <a:t>WHAT IS NOT WIRED YET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1517904"/>
            <a:ext cx="822960" cy="38100"/>
          </a:xfrm>
          <a:prstGeom prst="rect">
            <a:avLst/>
          </a:prstGeom>
          <a:solidFill>
            <a:srgbClr val="FFB5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13232" y="1847088"/>
            <a:ext cx="3108960" cy="11887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2200">
                <a:solidFill>
                  <a:srgbClr val="16130F"/>
                </a:solidFill>
                <a:latin typeface="Segoe UI Semibold"/>
              </a:rPr>
              <a:t>Console — integrity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" y="2926080"/>
            <a:ext cx="3108960" cy="2286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4000"/>
              </a:lnSpc>
            </a:pPr>
            <a:r>
              <a:rPr sz="1300">
                <a:solidFill>
                  <a:srgbClr val="8A7462"/>
                </a:solidFill>
                <a:latin typeface="Segoe UI"/>
              </a:rPr>
              <a:t>Signals, case files, and the requirements a blacklist has to meet before it is one.</a:t>
            </a:r>
          </a:p>
        </p:txBody>
      </p:sp>
      <p:sp>
        <p:nvSpPr>
          <p:cNvPr id="9" name="Rectangle 8"/>
          <p:cNvSpPr/>
          <p:nvPr/>
        </p:nvSpPr>
        <p:spPr>
          <a:xfrm>
            <a:off x="713232" y="5440680"/>
            <a:ext cx="1457553" cy="237744"/>
          </a:xfrm>
          <a:prstGeom prst="rect">
            <a:avLst/>
          </a:prstGeom>
          <a:solidFill>
            <a:srgbClr val="EADCC7"/>
          </a:solidFill>
          <a:ln w="9525">
            <a:solidFill>
              <a:srgbClr val="8A4E1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900">
                <a:solidFill>
                  <a:srgbClr val="8A4E12"/>
                </a:solidFill>
                <a:latin typeface="Segoe UI Semibold"/>
              </a:rPr>
              <a:t>ROADMAP · DEV ONLY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6327648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>
                <a:solidFill>
                  <a:srgbClr val="BFAE9B"/>
                </a:solidFill>
                <a:latin typeface="Consolas"/>
              </a:rPr>
              <a:t>/console/integrity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0" y="6327648"/>
            <a:ext cx="235915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>
                <a:solidFill>
                  <a:srgbClr val="BFAE9B"/>
                </a:solidFill>
                <a:latin typeface="Consolas"/>
              </a:rPr>
              <a:t>34 / 38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D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4105275" y="1073467"/>
            <a:ext cx="7379970" cy="4619625"/>
          </a:xfrm>
          <a:prstGeom prst="rect">
            <a:avLst/>
          </a:prstGeom>
          <a:noFill/>
          <a:ln w="9525">
            <a:solidFill>
              <a:srgbClr val="BFAE9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35-console-reports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0" y="1082992"/>
            <a:ext cx="7360920" cy="4600575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13232" y="1188720"/>
            <a:ext cx="31089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>
                <a:solidFill>
                  <a:srgbClr val="925F52"/>
                </a:solidFill>
                <a:latin typeface="Consolas"/>
              </a:rPr>
              <a:t>WHAT IS NOT WIRED YET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1517904"/>
            <a:ext cx="822960" cy="38100"/>
          </a:xfrm>
          <a:prstGeom prst="rect">
            <a:avLst/>
          </a:prstGeom>
          <a:solidFill>
            <a:srgbClr val="FFB5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13232" y="1847088"/>
            <a:ext cx="3108960" cy="11887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2200">
                <a:solidFill>
                  <a:srgbClr val="16130F"/>
                </a:solidFill>
                <a:latin typeface="Segoe UI Semibold"/>
              </a:rPr>
              <a:t>Console — the report builder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" y="2926080"/>
            <a:ext cx="3108960" cy="2286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4000"/>
              </a:lnSpc>
            </a:pPr>
            <a:r>
              <a:rPr sz="1300">
                <a:solidFill>
                  <a:srgbClr val="8A7462"/>
                </a:solidFill>
                <a:latin typeface="Segoe UI"/>
              </a:rPr>
              <a:t>A document that carries its own proof.</a:t>
            </a:r>
          </a:p>
        </p:txBody>
      </p:sp>
      <p:sp>
        <p:nvSpPr>
          <p:cNvPr id="9" name="Rectangle 8"/>
          <p:cNvSpPr/>
          <p:nvPr/>
        </p:nvSpPr>
        <p:spPr>
          <a:xfrm>
            <a:off x="713232" y="5440680"/>
            <a:ext cx="1457553" cy="237744"/>
          </a:xfrm>
          <a:prstGeom prst="rect">
            <a:avLst/>
          </a:prstGeom>
          <a:solidFill>
            <a:srgbClr val="EADCC7"/>
          </a:solidFill>
          <a:ln w="9525">
            <a:solidFill>
              <a:srgbClr val="8A4E1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900">
                <a:solidFill>
                  <a:srgbClr val="8A4E12"/>
                </a:solidFill>
                <a:latin typeface="Segoe UI Semibold"/>
              </a:rPr>
              <a:t>ROADMAP · DEV ONLY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6327648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>
                <a:solidFill>
                  <a:srgbClr val="BFAE9B"/>
                </a:solidFill>
                <a:latin typeface="Consolas"/>
              </a:rPr>
              <a:t>/console/reports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0" y="6327648"/>
            <a:ext cx="235915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>
                <a:solidFill>
                  <a:srgbClr val="BFAE9B"/>
                </a:solidFill>
                <a:latin typeface="Consolas"/>
              </a:rPr>
              <a:t>35 / 38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D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4105275" y="1073467"/>
            <a:ext cx="7379970" cy="4619625"/>
          </a:xfrm>
          <a:prstGeom prst="rect">
            <a:avLst/>
          </a:prstGeom>
          <a:noFill/>
          <a:ln w="9525">
            <a:solidFill>
              <a:srgbClr val="BFAE9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36-console-roles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0" y="1082992"/>
            <a:ext cx="7360920" cy="4600575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13232" y="1188720"/>
            <a:ext cx="31089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>
                <a:solidFill>
                  <a:srgbClr val="925F52"/>
                </a:solidFill>
                <a:latin typeface="Consolas"/>
              </a:rPr>
              <a:t>WHAT IS NOT WIRED YET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1517904"/>
            <a:ext cx="822960" cy="38100"/>
          </a:xfrm>
          <a:prstGeom prst="rect">
            <a:avLst/>
          </a:prstGeom>
          <a:solidFill>
            <a:srgbClr val="FFB5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13232" y="1847088"/>
            <a:ext cx="3108960" cy="11887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2200">
                <a:solidFill>
                  <a:srgbClr val="16130F"/>
                </a:solidFill>
                <a:latin typeface="Segoe UI Semibold"/>
              </a:rPr>
              <a:t>Console — roles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" y="2926080"/>
            <a:ext cx="3108960" cy="2286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4000"/>
              </a:lnSpc>
            </a:pPr>
            <a:r>
              <a:rPr sz="1300">
                <a:solidFill>
                  <a:srgbClr val="8A7462"/>
                </a:solidFill>
                <a:latin typeface="Segoe UI"/>
              </a:rPr>
              <a:t>What each role sees, and what it may do.</a:t>
            </a:r>
          </a:p>
        </p:txBody>
      </p:sp>
      <p:sp>
        <p:nvSpPr>
          <p:cNvPr id="9" name="Rectangle 8"/>
          <p:cNvSpPr/>
          <p:nvPr/>
        </p:nvSpPr>
        <p:spPr>
          <a:xfrm>
            <a:off x="713232" y="5440680"/>
            <a:ext cx="1457553" cy="237744"/>
          </a:xfrm>
          <a:prstGeom prst="rect">
            <a:avLst/>
          </a:prstGeom>
          <a:solidFill>
            <a:srgbClr val="EADCC7"/>
          </a:solidFill>
          <a:ln w="9525">
            <a:solidFill>
              <a:srgbClr val="8A4E1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900">
                <a:solidFill>
                  <a:srgbClr val="8A4E12"/>
                </a:solidFill>
                <a:latin typeface="Segoe UI Semibold"/>
              </a:rPr>
              <a:t>ROADMAP · DEV ONLY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6327648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>
                <a:solidFill>
                  <a:srgbClr val="BFAE9B"/>
                </a:solidFill>
                <a:latin typeface="Consolas"/>
              </a:rPr>
              <a:t>/console/roles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0" y="6327648"/>
            <a:ext cx="235915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>
                <a:solidFill>
                  <a:srgbClr val="BFAE9B"/>
                </a:solidFill>
                <a:latin typeface="Consolas"/>
              </a:rPr>
              <a:t>36 / 38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613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68680" y="1371600"/>
            <a:ext cx="3657600" cy="2011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0000"/>
              </a:lnSpc>
            </a:pPr>
            <a:r>
              <a:rPr sz="12800">
                <a:solidFill>
                  <a:srgbClr val="925F52"/>
                </a:solidFill>
                <a:latin typeface="Segoe UI Black"/>
              </a:rPr>
              <a:t>06</a:t>
            </a:r>
          </a:p>
        </p:txBody>
      </p:sp>
      <p:sp>
        <p:nvSpPr>
          <p:cNvPr id="4" name="Rectangle 3"/>
          <p:cNvSpPr/>
          <p:nvPr/>
        </p:nvSpPr>
        <p:spPr>
          <a:xfrm>
            <a:off x="868680" y="3246120"/>
            <a:ext cx="10424160" cy="12700"/>
          </a:xfrm>
          <a:prstGeom prst="rect">
            <a:avLst/>
          </a:prstGeom>
          <a:solidFill>
            <a:srgbClr val="8A746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68680" y="3611880"/>
            <a:ext cx="960120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4000">
                <a:solidFill>
                  <a:srgbClr val="F4EDE1"/>
                </a:solidFill>
                <a:latin typeface="Segoe UI Semibold"/>
              </a:rPr>
              <a:t>Outdoors, and under the hood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4617720"/>
            <a:ext cx="8412480" cy="1280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500">
                <a:solidFill>
                  <a:srgbClr val="BFAE9B"/>
                </a:solidFill>
                <a:latin typeface="Segoe UI"/>
              </a:rPr>
              <a:t>The crew's phone, offline and in sunlight — and the proof routes each rendering pipeline is photographed through.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418320" y="4617720"/>
            <a:ext cx="192024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>
                <a:solidFill>
                  <a:srgbClr val="FFB511"/>
                </a:solidFill>
                <a:latin typeface="Consolas"/>
              </a:rPr>
              <a:t>2 SCREENS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D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767715" y="1087755"/>
            <a:ext cx="2762250" cy="4682490"/>
          </a:xfrm>
          <a:prstGeom prst="rect">
            <a:avLst/>
          </a:prstGeom>
          <a:noFill/>
          <a:ln w="9525">
            <a:solidFill>
              <a:srgbClr val="BFAE9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37-field-app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1097280"/>
            <a:ext cx="2743200" cy="466344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114800" y="118872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>
                <a:solidFill>
                  <a:srgbClr val="925F52"/>
                </a:solidFill>
                <a:latin typeface="Consolas"/>
              </a:rPr>
              <a:t>OUTDOORS, AND UNDER THE HOOD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0" y="1517904"/>
            <a:ext cx="822960" cy="38100"/>
          </a:xfrm>
          <a:prstGeom prst="rect">
            <a:avLst/>
          </a:prstGeom>
          <a:solidFill>
            <a:srgbClr val="0FA9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114800" y="1847088"/>
            <a:ext cx="7315200" cy="11887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2200">
                <a:solidFill>
                  <a:srgbClr val="16130F"/>
                </a:solidFill>
                <a:latin typeface="Segoe UI Semibold"/>
              </a:rPr>
              <a:t>Field — the crew's phone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0" y="2926080"/>
            <a:ext cx="7315200" cy="2286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4000"/>
              </a:lnSpc>
            </a:pPr>
            <a:r>
              <a:rPr sz="1300">
                <a:solidFill>
                  <a:srgbClr val="8A7462"/>
                </a:solidFill>
                <a:latin typeface="Segoe UI"/>
              </a:rPr>
              <a:t>Capture and close jobs outdoors and offline. Installs to a phone; built for sunlight and gloves.</a:t>
            </a:r>
          </a:p>
        </p:txBody>
      </p:sp>
      <p:sp>
        <p:nvSpPr>
          <p:cNvPr id="9" name="Rectangle 8"/>
          <p:cNvSpPr/>
          <p:nvPr/>
        </p:nvSpPr>
        <p:spPr>
          <a:xfrm>
            <a:off x="4114800" y="5440680"/>
            <a:ext cx="1324051" cy="237744"/>
          </a:xfrm>
          <a:prstGeom prst="rect">
            <a:avLst/>
          </a:prstGeom>
          <a:solidFill>
            <a:srgbClr val="E4DCCE"/>
          </a:solidFill>
          <a:ln w="9525">
            <a:solidFill>
              <a:srgbClr val="0A6B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900">
                <a:solidFill>
                  <a:srgbClr val="0A6B66"/>
                </a:solidFill>
                <a:latin typeface="Segoe UI Semibold"/>
              </a:rPr>
              <a:t>LIVE · REAL DATA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6327648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>
                <a:solidFill>
                  <a:srgbClr val="BFAE9B"/>
                </a:solidFill>
                <a:latin typeface="Consolas"/>
              </a:rPr>
              <a:t>/field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0" y="6327648"/>
            <a:ext cx="235915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>
                <a:solidFill>
                  <a:srgbClr val="BFAE9B"/>
                </a:solidFill>
                <a:latin typeface="Consolas"/>
              </a:rPr>
              <a:t>37 / 38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D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4105275" y="1827962"/>
            <a:ext cx="7379970" cy="3110636"/>
          </a:xfrm>
          <a:prstGeom prst="rect">
            <a:avLst/>
          </a:prstGeom>
          <a:noFill/>
          <a:ln w="9525">
            <a:solidFill>
              <a:srgbClr val="BFAE9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38-developers-porta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0" y="1837487"/>
            <a:ext cx="7360920" cy="3091586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13232" y="1188720"/>
            <a:ext cx="31089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>
                <a:solidFill>
                  <a:srgbClr val="925F52"/>
                </a:solidFill>
                <a:latin typeface="Consolas"/>
              </a:rPr>
              <a:t>OUTDOORS, AND UNDER THE HOOD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1517904"/>
            <a:ext cx="822960" cy="38100"/>
          </a:xfrm>
          <a:prstGeom prst="rect">
            <a:avLst/>
          </a:prstGeom>
          <a:solidFill>
            <a:srgbClr val="0FA9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13232" y="1847088"/>
            <a:ext cx="3108960" cy="11887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2200">
                <a:solidFill>
                  <a:srgbClr val="16130F"/>
                </a:solidFill>
                <a:latin typeface="Segoe UI Semibold"/>
              </a:rPr>
              <a:t>Developers — the proof surfaces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" y="2926080"/>
            <a:ext cx="3108960" cy="2286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4000"/>
              </a:lnSpc>
            </a:pPr>
            <a:r>
              <a:rPr sz="1300">
                <a:solidFill>
                  <a:srgbClr val="8A7462"/>
                </a:solidFill>
                <a:latin typeface="Segoe UI"/>
              </a:rPr>
              <a:t>The routes each rendering pipeline is photographed through, and the contracts it holds.</a:t>
            </a:r>
          </a:p>
        </p:txBody>
      </p:sp>
      <p:sp>
        <p:nvSpPr>
          <p:cNvPr id="9" name="Rectangle 8"/>
          <p:cNvSpPr/>
          <p:nvPr/>
        </p:nvSpPr>
        <p:spPr>
          <a:xfrm>
            <a:off x="713232" y="5440680"/>
            <a:ext cx="1324051" cy="237744"/>
          </a:xfrm>
          <a:prstGeom prst="rect">
            <a:avLst/>
          </a:prstGeom>
          <a:solidFill>
            <a:srgbClr val="E4DCCE"/>
          </a:solidFill>
          <a:ln w="9525">
            <a:solidFill>
              <a:srgbClr val="0A6B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900">
                <a:solidFill>
                  <a:srgbClr val="0A6B66"/>
                </a:solidFill>
                <a:latin typeface="Segoe UI Semibold"/>
              </a:rPr>
              <a:t>LIVE · REAL DATA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6327648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>
                <a:solidFill>
                  <a:srgbClr val="BFAE9B"/>
                </a:solidFill>
                <a:latin typeface="Consolas"/>
              </a:rPr>
              <a:t>/developers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0" y="6327648"/>
            <a:ext cx="235915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>
                <a:solidFill>
                  <a:srgbClr val="BFAE9B"/>
                </a:solidFill>
                <a:latin typeface="Consolas"/>
              </a:rPr>
              <a:t>38 / 38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D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68680" y="77724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>
                <a:solidFill>
                  <a:srgbClr val="925F52"/>
                </a:solidFill>
                <a:latin typeface="Consolas"/>
              </a:rPr>
              <a:t>HOW A REPORT MOVES</a:t>
            </a:r>
          </a:p>
        </p:txBody>
      </p:sp>
      <p:sp>
        <p:nvSpPr>
          <p:cNvPr id="4" name="Rectangle 3"/>
          <p:cNvSpPr/>
          <p:nvPr/>
        </p:nvSpPr>
        <p:spPr>
          <a:xfrm>
            <a:off x="868680" y="1170432"/>
            <a:ext cx="1463040" cy="38100"/>
          </a:xfrm>
          <a:prstGeom prst="rect">
            <a:avLst/>
          </a:prstGeom>
          <a:solidFill>
            <a:srgbClr val="0FA9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68680" y="1600200"/>
            <a:ext cx="1042416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>
                <a:solidFill>
                  <a:srgbClr val="16130F"/>
                </a:solidFill>
                <a:latin typeface="Segoe UI Semibold"/>
              </a:rPr>
              <a:t>Every stage appends events. Nothing mutates a row.</a:t>
            </a:r>
          </a:p>
        </p:txBody>
      </p:sp>
      <p:sp>
        <p:nvSpPr>
          <p:cNvPr id="6" name="Rectangle 5"/>
          <p:cNvSpPr/>
          <p:nvPr/>
        </p:nvSpPr>
        <p:spPr>
          <a:xfrm>
            <a:off x="868680" y="2788920"/>
            <a:ext cx="1207008" cy="841248"/>
          </a:xfrm>
          <a:prstGeom prst="rect">
            <a:avLst/>
          </a:prstGeom>
          <a:solidFill>
            <a:srgbClr val="EADCC7"/>
          </a:solidFill>
          <a:ln w="19050">
            <a:solidFill>
              <a:srgbClr val="1613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rIns="45720" rtlCol="0" anchor="ctr"/>
          <a:lstStyle/>
          <a:p>
            <a:pPr algn="ctr"/>
            <a:r>
              <a:rPr sz="1100">
                <a:solidFill>
                  <a:srgbClr val="16130F"/>
                </a:solidFill>
                <a:latin typeface="Segoe UI Semibold"/>
              </a:rPr>
              <a:t>ingest</a:t>
            </a:r>
          </a:p>
        </p:txBody>
      </p:sp>
      <p:sp>
        <p:nvSpPr>
          <p:cNvPr id="7" name="Rectangle 6"/>
          <p:cNvSpPr/>
          <p:nvPr/>
        </p:nvSpPr>
        <p:spPr>
          <a:xfrm>
            <a:off x="2180844" y="2788920"/>
            <a:ext cx="1207008" cy="841248"/>
          </a:xfrm>
          <a:prstGeom prst="rect">
            <a:avLst/>
          </a:prstGeom>
          <a:solidFill>
            <a:srgbClr val="EADCC7"/>
          </a:solidFill>
          <a:ln w="19050">
            <a:solidFill>
              <a:srgbClr val="1613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rIns="45720" rtlCol="0" anchor="ctr"/>
          <a:lstStyle/>
          <a:p>
            <a:pPr algn="ctr"/>
            <a:r>
              <a:rPr sz="1100">
                <a:solidFill>
                  <a:srgbClr val="16130F"/>
                </a:solidFill>
                <a:latin typeface="Segoe UI Semibold"/>
              </a:rPr>
              <a:t>safety</a:t>
            </a:r>
          </a:p>
        </p:txBody>
      </p:sp>
      <p:sp>
        <p:nvSpPr>
          <p:cNvPr id="8" name="Rectangle 7"/>
          <p:cNvSpPr/>
          <p:nvPr/>
        </p:nvSpPr>
        <p:spPr>
          <a:xfrm>
            <a:off x="3493008" y="2788920"/>
            <a:ext cx="1207008" cy="841248"/>
          </a:xfrm>
          <a:prstGeom prst="rect">
            <a:avLst/>
          </a:prstGeom>
          <a:solidFill>
            <a:srgbClr val="EADCC7"/>
          </a:solidFill>
          <a:ln w="19050">
            <a:solidFill>
              <a:srgbClr val="1613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rIns="45720" rtlCol="0" anchor="ctr"/>
          <a:lstStyle/>
          <a:p>
            <a:pPr algn="ctr"/>
            <a:r>
              <a:rPr sz="1100">
                <a:solidFill>
                  <a:srgbClr val="16130F"/>
                </a:solidFill>
                <a:latin typeface="Segoe UI Semibold"/>
              </a:rPr>
              <a:t>trust</a:t>
            </a:r>
          </a:p>
        </p:txBody>
      </p:sp>
      <p:sp>
        <p:nvSpPr>
          <p:cNvPr id="9" name="Rectangle 8"/>
          <p:cNvSpPr/>
          <p:nvPr/>
        </p:nvSpPr>
        <p:spPr>
          <a:xfrm>
            <a:off x="4805172" y="2788920"/>
            <a:ext cx="1207008" cy="841248"/>
          </a:xfrm>
          <a:prstGeom prst="rect">
            <a:avLst/>
          </a:prstGeom>
          <a:solidFill>
            <a:srgbClr val="EADCC7"/>
          </a:solidFill>
          <a:ln w="19050">
            <a:solidFill>
              <a:srgbClr val="1613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rIns="45720" rtlCol="0" anchor="ctr"/>
          <a:lstStyle/>
          <a:p>
            <a:pPr algn="ctr"/>
            <a:r>
              <a:rPr sz="1100">
                <a:solidFill>
                  <a:srgbClr val="16130F"/>
                </a:solidFill>
                <a:latin typeface="Segoe UI Semibold"/>
              </a:rPr>
              <a:t>classify</a:t>
            </a:r>
          </a:p>
        </p:txBody>
      </p:sp>
      <p:sp>
        <p:nvSpPr>
          <p:cNvPr id="10" name="Rectangle 9"/>
          <p:cNvSpPr/>
          <p:nvPr/>
        </p:nvSpPr>
        <p:spPr>
          <a:xfrm>
            <a:off x="6117336" y="2788920"/>
            <a:ext cx="1207008" cy="841248"/>
          </a:xfrm>
          <a:prstGeom prst="rect">
            <a:avLst/>
          </a:prstGeom>
          <a:solidFill>
            <a:srgbClr val="EADCC7"/>
          </a:solidFill>
          <a:ln w="19050">
            <a:solidFill>
              <a:srgbClr val="1613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rIns="45720" rtlCol="0" anchor="ctr"/>
          <a:lstStyle/>
          <a:p>
            <a:pPr algn="ctr"/>
            <a:r>
              <a:rPr sz="1100">
                <a:solidFill>
                  <a:srgbClr val="16130F"/>
                </a:solidFill>
                <a:latin typeface="Segoe UI Semibold"/>
              </a:rPr>
              <a:t>dedup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429500" y="2788920"/>
            <a:ext cx="1207008" cy="841248"/>
          </a:xfrm>
          <a:prstGeom prst="rect">
            <a:avLst/>
          </a:prstGeom>
          <a:solidFill>
            <a:srgbClr val="F4EDE1"/>
          </a:solidFill>
          <a:ln w="9525">
            <a:solidFill>
              <a:srgbClr val="BFAE9B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rIns="45720" rtlCol="0" anchor="ctr"/>
          <a:lstStyle/>
          <a:p>
            <a:pPr algn="ctr"/>
            <a:r>
              <a:rPr sz="1100">
                <a:solidFill>
                  <a:srgbClr val="8A7462"/>
                </a:solidFill>
                <a:latin typeface="Segoe UI"/>
              </a:rPr>
              <a:t>severity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741664" y="2788920"/>
            <a:ext cx="1207008" cy="841248"/>
          </a:xfrm>
          <a:prstGeom prst="rect">
            <a:avLst/>
          </a:prstGeom>
          <a:solidFill>
            <a:srgbClr val="F4EDE1"/>
          </a:solidFill>
          <a:ln w="9525">
            <a:solidFill>
              <a:srgbClr val="BFAE9B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rIns="45720" rtlCol="0" anchor="ctr"/>
          <a:lstStyle/>
          <a:p>
            <a:pPr algn="ctr"/>
            <a:r>
              <a:rPr sz="1100">
                <a:solidFill>
                  <a:srgbClr val="8A7462"/>
                </a:solidFill>
                <a:latin typeface="Segoe UI"/>
              </a:rPr>
              <a:t>routing · SLA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0053828" y="2788920"/>
            <a:ext cx="1207008" cy="841248"/>
          </a:xfrm>
          <a:prstGeom prst="rect">
            <a:avLst/>
          </a:prstGeom>
          <a:solidFill>
            <a:srgbClr val="F4EDE1"/>
          </a:solidFill>
          <a:ln w="9525">
            <a:solidFill>
              <a:srgbClr val="BFAE9B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rIns="45720" rtlCol="0" anchor="ctr"/>
          <a:lstStyle/>
          <a:p>
            <a:pPr algn="ctr"/>
            <a:r>
              <a:rPr sz="1100">
                <a:solidFill>
                  <a:srgbClr val="8A7462"/>
                </a:solidFill>
                <a:latin typeface="Segoe UI"/>
              </a:rPr>
              <a:t>investigation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" y="3931920"/>
            <a:ext cx="104241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>
                <a:solidFill>
                  <a:srgbClr val="8A7462"/>
                </a:solidFill>
                <a:latin typeface="Consolas"/>
              </a:rPr>
              <a:t>SOLID — shipped and gated        DASHED — designed, not built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" y="4526280"/>
            <a:ext cx="10424160" cy="1828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50">
                <a:solidFill>
                  <a:srgbClr val="8A7462"/>
                </a:solidFill>
                <a:latin typeface="Segoe UI"/>
              </a:rPr>
              <a:t>·   The safety fail-safe runs on its own queue, served by a container that has never imported torch. A saturated ML queue cannot delay a gas-leak report.</a:t>
            </a:r>
          </a:p>
          <a:p>
            <a:pPr algn="l">
              <a:lnSpc>
                <a:spcPct val="130000"/>
              </a:lnSpc>
              <a:spcBef>
                <a:spcPts val="1000"/>
              </a:spcBef>
            </a:pPr>
            <a:r>
              <a:rPr sz="1250">
                <a:solidFill>
                  <a:srgbClr val="8A7462"/>
                </a:solidFill>
                <a:latin typeface="Segoe UI"/>
              </a:rPr>
              <a:t>·   Degradation is recorded, not swallowed. Every external call has a timeout, a retry budget, a fallback, and its own event — DEGRADED is not FAILED.</a:t>
            </a:r>
          </a:p>
          <a:p>
            <a:pPr algn="l">
              <a:lnSpc>
                <a:spcPct val="130000"/>
              </a:lnSpc>
              <a:spcBef>
                <a:spcPts val="1000"/>
              </a:spcBef>
            </a:pPr>
            <a:r>
              <a:rPr sz="1250">
                <a:solidFill>
                  <a:srgbClr val="8A7462"/>
                </a:solidFill>
                <a:latin typeface="Segoe UI"/>
              </a:rPr>
              <a:t>·   Deduplication is reversible. A merge is undone by a compensating event, never a delete.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613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68680" y="1417320"/>
            <a:ext cx="10058400" cy="2011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6000"/>
              </a:lnSpc>
            </a:pPr>
            <a:r>
              <a:rPr sz="2200">
                <a:solidFill>
                  <a:srgbClr val="BFAE9B"/>
                </a:solidFill>
                <a:latin typeface="Segoe UI"/>
              </a:rPr>
              <a:t>Every figure on every one of these screens</a:t>
            </a:r>
          </a:p>
          <a:p>
            <a:pPr algn="l">
              <a:lnSpc>
                <a:spcPct val="116000"/>
              </a:lnSpc>
              <a:spcBef>
                <a:spcPts val="1000"/>
              </a:spcBef>
            </a:pPr>
            <a:r>
              <a:rPr sz="3600">
                <a:solidFill>
                  <a:srgbClr val="F4EDE1"/>
                </a:solidFill>
                <a:latin typeface="Segoe UI Semibold"/>
              </a:rPr>
              <a:t>is computed from an append-only log.</a:t>
            </a:r>
          </a:p>
        </p:txBody>
      </p:sp>
      <p:sp>
        <p:nvSpPr>
          <p:cNvPr id="4" name="Rectangle 3"/>
          <p:cNvSpPr/>
          <p:nvPr/>
        </p:nvSpPr>
        <p:spPr>
          <a:xfrm>
            <a:off x="868680" y="3657600"/>
            <a:ext cx="10424160" cy="12700"/>
          </a:xfrm>
          <a:prstGeom prst="rect">
            <a:avLst/>
          </a:prstGeom>
          <a:solidFill>
            <a:srgbClr val="8A746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68680" y="4069080"/>
            <a:ext cx="320040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400">
                <a:solidFill>
                  <a:srgbClr val="0FA9A0"/>
                </a:solidFill>
                <a:latin typeface="Segoe UI Black"/>
              </a:rPr>
              <a:t>31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4956048"/>
            <a:ext cx="301752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>
                <a:solidFill>
                  <a:srgbClr val="BFAE9B"/>
                </a:solidFill>
                <a:latin typeface="Segoe UI"/>
              </a:rPr>
              <a:t>screens photographed live,</a:t>
            </a:r>
          </a:p>
          <a:p>
            <a:pPr algn="l">
              <a:lnSpc>
                <a:spcPct val="125000"/>
              </a:lnSpc>
            </a:pPr>
            <a:r>
              <a:rPr sz="1200">
                <a:solidFill>
                  <a:srgbClr val="BFAE9B"/>
                </a:solidFill>
                <a:latin typeface="Segoe UI"/>
              </a:rPr>
              <a:t>against a seeded deployment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43400" y="4069080"/>
            <a:ext cx="320040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400">
                <a:solidFill>
                  <a:srgbClr val="FFB511"/>
                </a:solidFill>
                <a:latin typeface="Segoe UI Black"/>
              </a:rPr>
              <a:t>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43400" y="4956048"/>
            <a:ext cx="301752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>
                <a:solidFill>
                  <a:srgbClr val="BFAE9B"/>
                </a:solidFill>
                <a:latin typeface="Segoe UI"/>
              </a:rPr>
              <a:t>designed and honestly</a:t>
            </a:r>
          </a:p>
          <a:p>
            <a:pPr algn="l">
              <a:lnSpc>
                <a:spcPct val="125000"/>
              </a:lnSpc>
            </a:pPr>
            <a:r>
              <a:rPr sz="1200">
                <a:solidFill>
                  <a:srgbClr val="BFAE9B"/>
                </a:solidFill>
                <a:latin typeface="Segoe UI"/>
              </a:rPr>
              <a:t>routed to a 404 in production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818120" y="4069080"/>
            <a:ext cx="320040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400">
                <a:solidFill>
                  <a:srgbClr val="925F52"/>
                </a:solidFill>
                <a:latin typeface="Segoe UI Black"/>
              </a:rPr>
              <a:t>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818120" y="4956048"/>
            <a:ext cx="301752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>
                <a:solidFill>
                  <a:srgbClr val="BFAE9B"/>
                </a:solidFill>
                <a:latin typeface="Segoe UI"/>
              </a:rPr>
              <a:t>figures typed by hand</a:t>
            </a:r>
          </a:p>
          <a:p>
            <a:pPr algn="l">
              <a:lnSpc>
                <a:spcPct val="125000"/>
              </a:lnSpc>
            </a:pPr>
            <a:r>
              <a:rPr sz="1200">
                <a:solidFill>
                  <a:srgbClr val="BFAE9B"/>
                </a:solidFill>
                <a:latin typeface="Segoe UI"/>
              </a:rPr>
              <a:t>anywhere in this deck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6172200"/>
            <a:ext cx="104241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>
                <a:solidFill>
                  <a:srgbClr val="F4EDE1"/>
                </a:solidFill>
                <a:latin typeface="Segoe UI Semibold"/>
              </a:rPr>
              <a:t>Prove, don't log.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1850</Words>
  <Application>Microsoft Office PowerPoint</Application>
  <PresentationFormat>Widescreen</PresentationFormat>
  <Paragraphs>291</Paragraphs>
  <Slides>49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49</vt:i4>
      </vt:variant>
    </vt:vector>
  </HeadingPairs>
  <TitlesOfParts>
    <vt:vector size="56" baseType="lpstr">
      <vt:lpstr>Arial</vt:lpstr>
      <vt:lpstr>Calibri</vt:lpstr>
      <vt:lpstr>Consolas</vt:lpstr>
      <vt:lpstr>Segoe UI</vt:lpstr>
      <vt:lpstr>Segoe UI Black</vt:lpstr>
      <vt:lpstr>Segoe UI Semibold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Pranav Panchal</cp:lastModifiedBy>
  <cp:revision>1</cp:revision>
  <dcterms:created xsi:type="dcterms:W3CDTF">2013-01-27T09:14:16Z</dcterms:created>
  <dcterms:modified xsi:type="dcterms:W3CDTF">2026-08-27T05:50:58Z</dcterms:modified>
  <cp:category/>
</cp:coreProperties>
</file>